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as B.R. Abishek. CreaseIQ is an independent educational franchise research studio. Crease refers to the markings on a cricket pitch; IQ stands for intelligence. The name means cricket evidence supporting informed decisions, with the analyst in control. Its users are analysts and scouts who need a clear route from a cricket decision to inspectable evidence. This presentation explains application version 3.1.0. It uses the released source and documented local acceptance results. Do not describe it as an official IPL product, an autonomous team manager, or a proven match-winning system.</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concrete operational problem. A coach asks for death-bowling options, but a list of career wickets does not describe death-over evidence, availability or the missing overs in a proposed XI. CreaseIQ keeps those distinctions visible. The scope is historical research and scenario rehearsal. It does not replace current registration checks, video review, coaches or the analyst’s judgment.</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contribution is the integration, not a claim that a language model invented better cricket statistics. The evidence engine performs calculations, the optimization engine checks a complete plan, and the optional model selects from already validated facts. Exports make the decision reproducible. No new foundation model was trained or fine-tuned for this project.</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the four research tasks to real analyst questions. The franchise desk supplies the selected team context. Scouting considers observed evidence rather than confirmed acquisition availability. XI planning uses the supplied dated 2026 research pool. Player evidence requires a confirmed identity. Match research exposes a gated historical baseline. Keep the language “research option” distinct from a recommendation that a player can actually be signed or selected today.</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navigation once rather than reading every page in detail. Home provides orientation and examples. Decision desk orchestrates checked briefs. Scouting ranks and compares. Squad scenarios solve legal schedules. Player dossier inspects records. Match research exposes the baseline and evaluation. Journal stores scoped decisions. Evaluation contains audits and review tasks. Project guide supports reproduction. Settings handles optional provider credentials and allowances.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counts refer to eligible men’s matches in the supplied snapshot. There are 6,392 matches, 141,377 player-match rows and 6,618 archive identities. IPL extends through 31 May 2026, but SMAT ends in December 2024. A latest date is not proof that every match in the interval is present. The app does not update automatically. The historical auction CSV is a separate 2013–2022 manual lookup and is not a current price feed.</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match_data.py. Delivery records are aggregated by player and match, including phase components. Batter balls exclude wides under the source convention. Legal bowling balls exclude wides and no-balls. Bowler runs exclude byes and leg byes. Bowler wickets exclude run-outs and other non-bowler dismissal types. Powerplay uses supplied metadata with a documented fallback; Death is an analytical final fifth. The raw verifier is independent of the ingestion and analytics modules.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layers in the diagram. Streamlit owns controls and presentation. The task-context checker compares the question with confirmed controls. Deterministic tools retrieve and calculate match, roster and model evidence. Validation checks identities, scope and schedule completeness. DeepSeek is optional and only selects existing fact IDs and approved next actions. Rendering is deterministic. SQLite stores scoped journal/cache/request counts; CSV and ZIP exports carry provenance. There is no vector database, LangChain dependency or unrestricted execution agent.</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is an application-controlled research workflow. The analyst chooses Scouting, XI planning, Player evidence or Match research. The server validates competition, discipline, phase, dates, selected players, exclusions, franchise, matchup and budget where relevant. One deterministic tool runs for the task. Optional DeepSeek selection happens only after the tool has returned facts. The final brief is bound to the full context and source fingerprints; a changed context makes the previous brief stale.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uses deepseek-chat, temperature zero and a constrained JSON response. Temperature zero is not a guarantee of identical external responses. Unknown IDs, model prose, incomplete responses and tool-call attempts are rejected. A complete XI cannot omit player facts and a player task cannot omit requested identities. Invalid or unavailable selection falls back to the supported local facts. No live model quality claim is made by the fixture tests. Keys remain in private hosting Secrets or a temporary password field, never the source package.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actual local application screenshot to show the home page’s purpose. Loading an example sets structured controls and does not itself spend provider calls. The first recommended run uses Local evidence. Explain the evidence base before interpreting a player’s metric. The page provides entry points rather than a generic decorative dashboard.</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brief contains factual records rendered by the server, their sources, full context and approved next actions. Open the evidence trace during the demo. If a question requests under-25 eligibility, a different competition or an unconfirmed exclusion, the app asks for clarification rather than making an unsupported inference. A source or control change hides the old result until it is recomputed. “Evidence checked” means supported provenance and task agreement, not certified tactical usefulness.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Scouting calculates transparent descriptive scores. Recent records receive more weight, with a 365-day half-life; a 120-ball prior shrinks small samples toward the scope average. The minimum sample uses batting balls or legal bowling balls as appropriate. A bowling score trades off economy and wicket-taking, so rank is not the same as sorting economy. ALL keeps competitions separate and does not translate league strength. Current availability and tactical fit require external review. The score weights have not been proven optimal.</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Kohli to teach the difference between an archive total and a filtered sample. In the 18 October 2023 to before 18 October 2026 window, the archive has 114 Death-phase IPL runs and 2,073 all-phase runs. The all-supplied-IPL overview has 9,336 runs through 31 May 2026. The season totals 741, 657 and 675 match the RCB pages in the official comparison file. Do not call the 9,336 an independently certified complete career figure. It is labeled as the supplied archive. The minimum-ball scouting filter does not hide dossier records.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registry preserves raw aliases but is not a complete external full-name register. Some players need initials or a source alias in the search. The selected India Rohit ID is 740742ef; this is not the only person with that display name. Current roster events are applied only after their published dates, with a strict exclusive cutoff. Do not imply that a roster cutoff creates a historical career record or that the latest source date certifies completeness.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SciPy’s mixed-integer optimization selects players and assigns every over jointly. Default planning uses IPL evidence from the previous three years, even when scouting controls show another competition. Selection maximizes the sum of explicit utilities; a second solve holds that XI fixed and improves the schedule using phase scores. Each successful plan receives an independent schedule validation. A legal feasible optimum under these assumptions is not a proven best tactical XI. Costs, curated styles and capability assumptions remain explicit.</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schedule is calculated from the released 2026 research pool with Jasprit Bumrah explicitly excluded, one spin and two pace minimums, the default three-year IPL evidence and no price budget. The selected five bowlers each cover four overs in this example. The diagram shows all twenty overs, their phase and no consecutive overs for one bowler. It is a reproducible research scenario, not a claim of current match-day availability. Equivalent optimal schedules can differ; keep the manifest to reproduce the assumptions.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Budget values are analyst assumptions, and the initial one-crore entries are placeholders. Every relevant available player needs a price when a budget is active. Capability overrides need a written reason and legal whole-over caps; unobserved players also need a finite utility assumption. They cannot remove a documented 2026 availability block. If a constraint set is impossible, the app returns an explanation instead of inventing a complete plan. Historical auction lookup stays manual because currencies, transaction types and identities need review.</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uses team Elo and exponential recent-result form. Post-toss features add chasing status and prior venue chase outcomes. Training is before 2023, validation is 2023 and testing is 2024 onward. All matches on a date are predicted before that date’s results update ratings. The current research model failed its stronger-baseline gate, so the displayed estimate is a training-derived baseline. Selecting a different XI does not change it, because player lineups are not model inputs.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fit uses 946 eligible training matches before 2023. Validation has 73 matches, and the held-out test contains 215 from 2024 onward. Ratings update only after each match date. The training chase-rate baseline uses training history, not test outcomes. The model’s fixed regularization and constants were not tuned using the validation or test results. Nevertheless, the dataset is limited and repeated seasons and teams are dependent, so a single test score does not prove a durable future advantage.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exact Brier values. The research post-toss model scores 0.256489 on validation versus the baseline’s 0.257440, but on held-out test it scores 0.248577 versus the baseline’s better 0.247619. The gate requires improvement in both periods and therefore fails. Lower Brier is better. Both have about 54.88 percent threshold accuracy in the test; this shows why accuracy alone is inadequate. The pre-toss displayed 50 percent is a no-validated-edge baseline, not evidence that actual team strengths are identical.</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Session/franchise scoping is tested, but it is not authenticated durable multi-user team access. Another fresh visitor cannot read this session’s records. Export work before closing or redeploying. Decision packs contain manifest.json and the data needed for the task; XI packs include schedule.csv, alternatives and checks. The context fingerprint changes when the question, scope, assumptions, version or calculation sources change. Source hashes identify an input version; they do not prove source truth.</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actual design choices rather than aesthetic adjectives. The selected desk has franchise colors and a bundled identification mark. Light and Dark modes use readable surfaces and a restrained hierarchy. Reduce motion and system reduced-motion preferences are respected. Tables remain stable; the sidebar preserves context; filtered totals and unsupported cases use explicit labels. The application has local desktop/mobile browser checks, not a completed accessibility certification or user study. Team logos identify the subjects of an educational project and do not imply endorsement.</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guide explains installation, data coverage, deterministic tools, formulas, legal schedule rules, model gating and deployment. The source download excludes actual credentials, runtime databases, environments and caches. Local mode has no API charge. Optional DeepSeek calls are limited to six per browser session per UTC day across desks and thirty per installation. A brief uses at most two calls. These are small-demo controls rather than authenticated user accounts or a hard currency cap. Live provider quality was not certified here.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71 current automated tests and 58 local Chromium checks. The raw archive verifier independently recalculated 3,393,048 numeric fields from 1,455,366 deliveries with zero ingestion mismatches. The expanded audit tested 144 scouting settings, ninety team scenarios and 257 forced-player requests. All 257 dossier displays matched stored input totals or explicitly reported missing identities. These are different test units and must not be added into one artificial accuracy percentage. Local fixture and browser checks do not certify the hosted rebuild or external model quality.</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contains 194 numeric fields from fifteen primary pages, spanning all ten IPL teams and five archive competitions. It produced 188 matches, five T20I coverage gaps and one unresolved conflict. Kohli has 3,963 T20I archive runs versus the ICC’s 4,188. India Rohit has 4,027 versus 4,231. SMAT 2024/25 has only eight supplied matches. Kamboj conceded 56 in the archive but an IPL article says 57; the final primary bowling card still needs review. Every discrepancy remains in the downloadable comparison file. This is not official verification of every player.</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pool contains 257 rows and can include outgoing players and replacements together. Fourteen selected dated primary-source notices are applied. Seven documented incoming replacements lack verified planning metadata: Akash Madhwal, Emanjot Chahal, Krish Bhagat, Mahipal Lomror, Ruchit Ahir, George Linde and Richard Gleeson. The app names them instead of inventing country, keeper or eligibility metadata. Remaining registrations, availability, NOCs and reinstatements require review. A legal research plan does not certify current match eligibility.</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first demo. Start on Home and load the RCB example without a provider call. Confirm the exclusive cutoff. Prepare a Local evidence brief, open its trace and read raw metrics rather than just the first rank. A high-ranked player is not necessarily available to RCB; signing status is outside the observed-performance ranking. Save and download the pack. If the hosted service is unavailable, run the supplied source locally. Do not claim that a screenshot proves live DeepSeek intelligence.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this is a stronger demo than displaying a static best XI. The scenario removes an important bowler and tests whether the rest of the research pool can still support a complete schedule. Read the assumption table and current-status warnings. The example’s supported result has twenty overs with no consecutive overs by one bowler. Then show an explicitly impossible condition and its explanation. Finish by exporting the plan and manifest. No recruitment or current-fitness claim follows from the solve.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use needs the source ZIP, Python 3.11 or newer compatible Python, the listed packages and Streamlit. Python 3.12 is the tested recommendation. The source includes processed data, so the large raw archives are not required to run the app. Deploy main with app.py on Streamlit Community Cloud and add a private key only if using DeepSeek selection. Hosting may be free within current host limits; provider charges depend on actual current pricing and usage. No new paid dataset is needed to reproduce this release. Complete/live data and production team access would be separate work.</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Strengths are traceable calculations, complete schedule constraints and reproducible exports. Weaknesses are frozen incomplete sources, partial roster metadata and heuristic scoring without proven tactical advantage. Opportunities include a dated verified registry, scout/video review and measured role/venue studies. Threats include stale availability, scope misinterpretation, provider instability and misuse of public demo allowances. Frame future work as research priorities, not features secretly completed in this release.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Prioritize evidence integrity before more decoration or model complexity. The app has twenty review tasks but zero authenticated professional reviews. Forecast superiority is unproven. A real deployment also needs reviewed source rights, access control, durable backups, operational monitoring and ongoing dated data updates. Full Impact Player and competition-rule certification are outside the current twenty-over model. These limits should appear in the submitted report so the claims match the evidence.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the three substantive contributions: bounded evidence workflow, joint legal selection/scheduling and a reproducible decision record. The product supports understanding and testing rather than asserting a predictive edge. Point to the submitted report, source and evidence pack for details. Be ready to distinguish source consistency, complete official coverage, functional reliability and tactical usefulness; they are separate claims.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and app URLs are included as clickable links. The frozen submitted application is version 3.1.0 at commit 1100cace6b820c278135189f8925d4d1e423b375. The hosted URL is provided for convenience; local tests do not certify the hosted rebuild. The package includes a source ZIP, user guide, current audit/evidence and demo instructions. Invite questions about the model gate, legal schedule, scope labels and data completeness.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R, B and D be recency-weighted runs, balls and dismissals. Let r0 and d0 be the weighted scope runs-per-ball and dismissal-per-ball baselines. The smoothed rates are (R+120r0)/(B+120) and (D+120d0)/(B+120). Score is 100 times the first rate’s difference from r0, minus 18 times 100 times the second rate’s difference from d0. Baselines are calculated separately by competition. This is a declared heuristic, not expected runs or proven optimal talent value.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C, L and W be recency-weighted conceded runs, legal balls and bowler-credited wickets. Let c0 and w0 be the weighted scope conceded-per-ball and wicket-per-ball baselines. Smoothed rates use a 120-ball prior. Score is 6(c0-c_smoothed) + 72(w_smoothed-w0). The wicket coefficient is 12 times the six-ball normalization. Recency weight is 2 raised to negative age-in-days divided by 365. Raw runs, balls and wickets remain unweighted in the display. A leader can have a worse raw economy because wicket rate, recency and smoothing affect the score.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Sample weight is effective weighted relevant balls divided by that quantity plus 120. It approaches one with more recent relevant exposure, but is not the chance that a player will succeed. Observed-rate intervals resample relevant matches 500 times with a fixed seed; at least five relevant matches are needed. They describe the sampled observed mean under an independent-match assumption. Venue shifts, correlated matches and future tactical roles are not fully represented. Do not call these future-performance confidence scores.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binary x_i for a selected player and y_io for player i bowling over o. The main constraints select eleven players; assign exactly one bowler to each over; link y to x; limit every bowler to four overs and phase capacities; and prevent y_i,o + y_i,o+1 from exceeding one. Add keeper, overseas, role-minimum, lock, exclusion and optional budget constraints. Stage one maximizes the sum of utility times selection. Stage two fixes the selected XI and improves the phase-specific bowling schedule. Independent validation is separate from the solver’s constraint matrix.</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match_players.csv.gz is the analytical player-match grain keyed by match ID and player ID, with totals and phase components. matches.csv.gz stores dates, competition, teams, venue, toss and result. player_registry.json stores names, preserved aliases and reviewed metadata. squads.csv and dated event/status files are planning inputs. Prediction artifacts and audit outputs remain separate. Unregistered planning IDs cannot be joined to an unrelated player. Frozen source hashes identify the version used in each exported decision.</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is app.py. creaseiq_runtime.py loads a coherent content-fingerprinted creaseiq_core package and invalidates data caches when code changes. analytics.py performs ranking and mixed-integer scheduling. agent.py validates context and optional model selection. prediction.py implements the chronological model and baseline serving. evidence.py fingerprints exports. storage.py handles scoped SQLite state and atomic limits. branding.py and downloads.py support design and safe source downloads. Pandas, NumPy, SciPy, Altair and Streamlit are the runtime dependencies.</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and user text are treated as untrusted input. The model is not given code execution or a permission to alter player prices. Secret fields are masked and credentials are excluded from exports. The exact-task fingerprint prevents stale or mismatched briefs from being saved as current results. The public session design is deliberately limited; it does not provide authenticated authorization, durable cross-device teams or a hard financial spending cap. Logs and live provider behavior still require operational review in a real deployment.</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ZIP contains the full local test suite and processed data. The expanded workflow and dossier checks write detailed CSV/JSON evidence. Raw reconciliation needs the same five source archives identified by their SHA-256 values. The official checkpoint command recalculates values transcribed from linked primary pages reviewed on 18 October 2026; it does not fetch current official records. Preserve the frozen commit and manifests when reproducing results. The submission evidence logs contain the completed local results, not new claims of hosted or live-provider performance.</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exact released source for formulas, rules and implementation. Use Cricsheet for the archive source and preserve the supplied hashes. Official_validation.csv links every primary numeric checkpoint, including ICC, IPL, RCB, Cricket Australia, BCCI and The Hundred. The guide and audit explain the limits of each comparison. Package and provider documentation are supporting references for technologies, not evidence of project performance. Team mark credits are preserved in assets/sources.json. No source-rights certification or league endorsement is implied.</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Submit the presentation in PPTX and PDF, the editable report and final PDF, the frozen source ZIP, guide, test evidence and demo/viva guide according to the institution’s portal. START_HERE.md maps every file. The abstract is included separately. Add institution-required signed declaration, supervisor certificate, approval form, contribution statement or prescribed front matter only with the proper information and signatures. No such approvals, signatures, student register number or academic integrity claims have been fabricated. Check the repository and hosted demo before the actual review.</a:t>
            </a:r>
          </a:p>
          <a:p/>
          <a:p>
            <a:r>
              <a:t>Evidence: released source v3.1.0 at 1100cace6b820c278135189f8925d4d1e423b375.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creaseiq.streamlit.app/" TargetMode="External"/><Relationship Id="rId4" Type="http://schemas.openxmlformats.org/officeDocument/2006/relationships/hyperlink" Target="https://github.com/br-abishek-07/creaseiq-cricket-capston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github.com/br-abishek-07/creaseiq-cricket-capstone/tree/1100cace6b820c278135189f8925d4d1e423b375" TargetMode="External"/><Relationship Id="rId4" Type="http://schemas.openxmlformats.org/officeDocument/2006/relationships/hyperlink" Target="https://cricsheet.org/" TargetMode="External"/><Relationship Id="rId5" Type="http://schemas.openxmlformats.org/officeDocument/2006/relationships/hyperlink" Target="https://github.com/br-abishek-07/creaseiq-cricket-capstone/blob/1100cace6b820c278135189f8925d4d1e423b375/data/official_validation.csv" TargetMode="External"/><Relationship Id="rId6" Type="http://schemas.openxmlformats.org/officeDocument/2006/relationships/hyperlink" Target="https://github.com/br-abishek-07/creaseiq-cricket-capstone/blob/1100cace6b820c278135189f8925d4d1e423b375/docs/DATA_SOURCES.md" TargetMode="External"/><Relationship Id="rId7" Type="http://schemas.openxmlformats.org/officeDocument/2006/relationships/hyperlink" Target="https://github.com/br-abishek-07/creaseiq-cricket-capstone/blob/1100cace6b820c278135189f8925d4d1e423b375/docs/ACCURACY_AUDIT.md" TargetMode="External"/><Relationship Id="rId8" Type="http://schemas.openxmlformats.org/officeDocument/2006/relationships/hyperlink" Target="https://docs.streamlit.io/" TargetMode="External"/><Relationship Id="rId9" Type="http://schemas.openxmlformats.org/officeDocument/2006/relationships/hyperlink" Target="https://docs.scipy.org/doc/scipy/reference/generated/scipy.optimize.milp.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9875520" y="0"/>
            <a:ext cx="4754880" cy="8229600"/>
          </a:xfrm>
          <a:prstGeom prst="rect">
            <a:avLst/>
          </a:prstGeom>
          <a:solidFill>
            <a:srgbClr val="1018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640080" y="502920"/>
            <a:ext cx="640080" cy="54864"/>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795528"/>
            <a:ext cx="8229600" cy="365760"/>
          </a:xfrm>
          <a:prstGeom prst="rect">
            <a:avLst/>
          </a:prstGeom>
          <a:noFill/>
        </p:spPr>
        <p:txBody>
          <a:bodyPr wrap="square" lIns="0" rIns="0" tIns="0" bIns="0">
            <a:spAutoFit/>
          </a:bodyPr>
          <a:lstStyle/>
          <a:p>
            <a:pPr algn="l">
              <a:lnSpc>
                <a:spcPct val="112000"/>
              </a:lnSpc>
              <a:spcAft>
                <a:spcPts val="600"/>
              </a:spcAft>
              <a:defRPr sz="1100" b="1">
                <a:solidFill>
                  <a:srgbClr val="176B55"/>
                </a:solidFill>
                <a:latin typeface="Liberation Sans"/>
              </a:defRPr>
            </a:pPr>
            <a:r>
              <a:t>CAPSTONE / AI DRIVEN DATA SCIENCE</a:t>
            </a:r>
          </a:p>
        </p:txBody>
      </p:sp>
      <p:sp>
        <p:nvSpPr>
          <p:cNvPr id="5" name="TextBox 4"/>
          <p:cNvSpPr txBox="1"/>
          <p:nvPr/>
        </p:nvSpPr>
        <p:spPr>
          <a:xfrm>
            <a:off x="640080" y="1527048"/>
            <a:ext cx="8869680" cy="1097280"/>
          </a:xfrm>
          <a:prstGeom prst="rect">
            <a:avLst/>
          </a:prstGeom>
          <a:noFill/>
        </p:spPr>
        <p:txBody>
          <a:bodyPr wrap="square" lIns="0" rIns="0" tIns="0" bIns="0">
            <a:spAutoFit/>
          </a:bodyPr>
          <a:lstStyle/>
          <a:p>
            <a:pPr algn="l">
              <a:lnSpc>
                <a:spcPct val="112000"/>
              </a:lnSpc>
              <a:spcAft>
                <a:spcPts val="600"/>
              </a:spcAft>
              <a:defRPr sz="6400" b="0">
                <a:solidFill>
                  <a:srgbClr val="182D32"/>
                </a:solidFill>
                <a:latin typeface="Liberation Serif"/>
              </a:defRPr>
            </a:pPr>
            <a:r>
              <a:t>CREASEIQ</a:t>
            </a:r>
          </a:p>
        </p:txBody>
      </p:sp>
      <p:sp>
        <p:nvSpPr>
          <p:cNvPr id="6" name="TextBox 5"/>
          <p:cNvSpPr txBox="1"/>
          <p:nvPr/>
        </p:nvSpPr>
        <p:spPr>
          <a:xfrm>
            <a:off x="667512" y="2880360"/>
            <a:ext cx="8686800" cy="150876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Franchise research,</a:t>
            </a:r>
          </a:p>
          <a:p>
            <a:pPr algn="l">
              <a:lnSpc>
                <a:spcPct val="112000"/>
              </a:lnSpc>
              <a:spcAft>
                <a:spcPts val="600"/>
              </a:spcAft>
              <a:defRPr sz="3400" b="0">
                <a:solidFill>
                  <a:srgbClr val="182D32"/>
                </a:solidFill>
                <a:latin typeface="Liberation Serif"/>
              </a:defRPr>
            </a:pPr>
            <a:r>
              <a:t>with evidence attached.</a:t>
            </a:r>
          </a:p>
        </p:txBody>
      </p:sp>
      <p:sp>
        <p:nvSpPr>
          <p:cNvPr id="7" name="TextBox 6"/>
          <p:cNvSpPr txBox="1"/>
          <p:nvPr/>
        </p:nvSpPr>
        <p:spPr>
          <a:xfrm>
            <a:off x="667512" y="4754880"/>
            <a:ext cx="813816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A constrained AI workflow for cricket analysts and scouts.</a:t>
            </a:r>
          </a:p>
        </p:txBody>
      </p:sp>
      <p:sp>
        <p:nvSpPr>
          <p:cNvPr id="8" name="TextBox 7"/>
          <p:cNvSpPr txBox="1"/>
          <p:nvPr/>
        </p:nvSpPr>
        <p:spPr>
          <a:xfrm>
            <a:off x="667512" y="5989320"/>
            <a:ext cx="8229600" cy="365760"/>
          </a:xfrm>
          <a:prstGeom prst="rect">
            <a:avLst/>
          </a:prstGeom>
          <a:noFill/>
        </p:spPr>
        <p:txBody>
          <a:bodyPr wrap="square" lIns="0" rIns="0" tIns="0" bIns="0">
            <a:spAutoFit/>
          </a:bodyPr>
          <a:lstStyle/>
          <a:p>
            <a:pPr algn="l">
              <a:lnSpc>
                <a:spcPct val="112000"/>
              </a:lnSpc>
              <a:spcAft>
                <a:spcPts val="600"/>
              </a:spcAft>
              <a:defRPr sz="2200" b="1">
                <a:solidFill>
                  <a:srgbClr val="182D32"/>
                </a:solidFill>
                <a:latin typeface="Liberation Sans"/>
              </a:defRPr>
            </a:pPr>
            <a:r>
              <a:t>B.R. Abishek</a:t>
            </a:r>
          </a:p>
        </p:txBody>
      </p:sp>
      <p:sp>
        <p:nvSpPr>
          <p:cNvPr id="9" name="TextBox 8"/>
          <p:cNvSpPr txBox="1"/>
          <p:nvPr/>
        </p:nvSpPr>
        <p:spPr>
          <a:xfrm>
            <a:off x="667512" y="6473952"/>
            <a:ext cx="8229600" cy="45720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Capstone Project  /  AI Driven Data Science</a:t>
            </a:r>
          </a:p>
        </p:txBody>
      </p:sp>
      <p:sp>
        <p:nvSpPr>
          <p:cNvPr id="10" name="Oval 9"/>
          <p:cNvSpPr/>
          <p:nvPr/>
        </p:nvSpPr>
        <p:spPr>
          <a:xfrm>
            <a:off x="10561320" y="1143000"/>
            <a:ext cx="3383280" cy="5669280"/>
          </a:xfrm>
          <a:prstGeom prst="ellipse">
            <a:avLst/>
          </a:prstGeom>
          <a:noFill/>
          <a:ln w="10160">
            <a:solidFill>
              <a:srgbClr val="33455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704320" y="2423160"/>
            <a:ext cx="1051560" cy="3017520"/>
          </a:xfrm>
          <a:prstGeom prst="rect">
            <a:avLst/>
          </a:prstGeom>
          <a:noFill/>
          <a:ln w="10160">
            <a:solidFill>
              <a:srgbClr val="A8B8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11430000" y="2606040"/>
            <a:ext cx="1600200" cy="11887"/>
          </a:xfrm>
          <a:prstGeom prst="rect">
            <a:avLst/>
          </a:prstGeom>
          <a:solidFill>
            <a:srgbClr val="A8B8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1430000" y="5257800"/>
            <a:ext cx="1600200" cy="11887"/>
          </a:xfrm>
          <a:prstGeom prst="rect">
            <a:avLst/>
          </a:prstGeom>
          <a:solidFill>
            <a:srgbClr val="A8B8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698480" y="2971800"/>
            <a:ext cx="3108960" cy="365760"/>
          </a:xfrm>
          <a:prstGeom prst="rect">
            <a:avLst/>
          </a:prstGeom>
          <a:noFill/>
        </p:spPr>
        <p:txBody>
          <a:bodyPr wrap="square" lIns="0" rIns="0" tIns="0" bIns="0">
            <a:spAutoFit/>
          </a:bodyPr>
          <a:lstStyle/>
          <a:p>
            <a:pPr algn="ctr">
              <a:lnSpc>
                <a:spcPct val="112000"/>
              </a:lnSpc>
              <a:spcAft>
                <a:spcPts val="600"/>
              </a:spcAft>
              <a:defRPr sz="1600" b="1">
                <a:solidFill>
                  <a:srgbClr val="E8EDF1"/>
                </a:solidFill>
                <a:latin typeface="Liberation Sans"/>
              </a:defRPr>
            </a:pPr>
            <a:r>
              <a:t>QUESTION</a:t>
            </a:r>
          </a:p>
        </p:txBody>
      </p:sp>
      <p:sp>
        <p:nvSpPr>
          <p:cNvPr id="15" name="TextBox 14"/>
          <p:cNvSpPr txBox="1"/>
          <p:nvPr/>
        </p:nvSpPr>
        <p:spPr>
          <a:xfrm>
            <a:off x="10698480" y="3657600"/>
            <a:ext cx="3108960" cy="365760"/>
          </a:xfrm>
          <a:prstGeom prst="rect">
            <a:avLst/>
          </a:prstGeom>
          <a:noFill/>
        </p:spPr>
        <p:txBody>
          <a:bodyPr wrap="square" lIns="0" rIns="0" tIns="0" bIns="0">
            <a:spAutoFit/>
          </a:bodyPr>
          <a:lstStyle/>
          <a:p>
            <a:pPr algn="ctr">
              <a:lnSpc>
                <a:spcPct val="112000"/>
              </a:lnSpc>
              <a:spcAft>
                <a:spcPts val="600"/>
              </a:spcAft>
              <a:defRPr sz="1600" b="1">
                <a:solidFill>
                  <a:srgbClr val="E8EDF1"/>
                </a:solidFill>
                <a:latin typeface="Liberation Sans"/>
              </a:defRPr>
            </a:pPr>
            <a:r>
              <a:t>EVIDENCE</a:t>
            </a:r>
          </a:p>
        </p:txBody>
      </p:sp>
      <p:sp>
        <p:nvSpPr>
          <p:cNvPr id="16" name="TextBox 15"/>
          <p:cNvSpPr txBox="1"/>
          <p:nvPr/>
        </p:nvSpPr>
        <p:spPr>
          <a:xfrm>
            <a:off x="10698480" y="4343400"/>
            <a:ext cx="3108960" cy="365760"/>
          </a:xfrm>
          <a:prstGeom prst="rect">
            <a:avLst/>
          </a:prstGeom>
          <a:noFill/>
        </p:spPr>
        <p:txBody>
          <a:bodyPr wrap="square" lIns="0" rIns="0" tIns="0" bIns="0">
            <a:spAutoFit/>
          </a:bodyPr>
          <a:lstStyle/>
          <a:p>
            <a:pPr algn="ctr">
              <a:lnSpc>
                <a:spcPct val="112000"/>
              </a:lnSpc>
              <a:spcAft>
                <a:spcPts val="600"/>
              </a:spcAft>
              <a:defRPr sz="1600" b="1">
                <a:solidFill>
                  <a:srgbClr val="E8EDF1"/>
                </a:solidFill>
                <a:latin typeface="Liberation Sans"/>
              </a:defRPr>
            </a:pPr>
            <a:r>
              <a:t>DECISION</a:t>
            </a:r>
          </a:p>
        </p:txBody>
      </p:sp>
      <p:sp>
        <p:nvSpPr>
          <p:cNvPr id="17" name="TextBox 16"/>
          <p:cNvSpPr txBox="1"/>
          <p:nvPr/>
        </p:nvSpPr>
        <p:spPr>
          <a:xfrm>
            <a:off x="10332720" y="7040880"/>
            <a:ext cx="3931920" cy="365760"/>
          </a:xfrm>
          <a:prstGeom prst="rect">
            <a:avLst/>
          </a:prstGeom>
          <a:noFill/>
        </p:spPr>
        <p:txBody>
          <a:bodyPr wrap="square" lIns="0" rIns="0" tIns="0" bIns="0">
            <a:spAutoFit/>
          </a:bodyPr>
          <a:lstStyle/>
          <a:p>
            <a:pPr algn="ctr">
              <a:lnSpc>
                <a:spcPct val="112000"/>
              </a:lnSpc>
              <a:spcAft>
                <a:spcPts val="600"/>
              </a:spcAft>
              <a:defRPr sz="1000" b="0">
                <a:solidFill>
                  <a:srgbClr val="A8B8C5"/>
                </a:solidFill>
                <a:latin typeface="Liberation Sans"/>
              </a:defRPr>
            </a:pPr>
            <a:r>
              <a:t>THE ANALYST RETAINS THE DECISION</a:t>
            </a:r>
          </a:p>
        </p:txBody>
      </p:sp>
      <p:sp>
        <p:nvSpPr>
          <p:cNvPr id="18" name="Rectangle 17"/>
          <p:cNvSpPr/>
          <p:nvPr/>
        </p:nvSpPr>
        <p:spPr>
          <a:xfrm>
            <a:off x="640080" y="7772400"/>
            <a:ext cx="850392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67512" y="7900416"/>
            <a:ext cx="8229600" cy="201168"/>
          </a:xfrm>
          <a:prstGeom prst="rect">
            <a:avLst/>
          </a:prstGeom>
          <a:noFill/>
        </p:spPr>
        <p:txBody>
          <a:bodyPr wrap="square" lIns="0" rIns="0" tIns="0" bIns="0">
            <a:spAutoFit/>
          </a:bodyPr>
          <a:lstStyle/>
          <a:p>
            <a:pPr algn="l">
              <a:lnSpc>
                <a:spcPct val="112000"/>
              </a:lnSpc>
              <a:spcAft>
                <a:spcPts val="600"/>
              </a:spcAft>
              <a:defRPr sz="1000" b="0">
                <a:solidFill>
                  <a:srgbClr val="596B72"/>
                </a:solidFill>
                <a:latin typeface="Liberation Sans"/>
              </a:defRPr>
            </a:pPr>
            <a:r>
              <a:t>18 OCTOBER 2026  /  APPLICATION v3.1.0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01 / PURPOSE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Start with a decision, not a dashboard.</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02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The analyst’s problem</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Records sit across competitions and seasons.</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A ranking can hide its date window and sample size.</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A plausible XI can still fail to cover twenty overs.</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The project response</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Confirm one task and its evidence scope.</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Calculate from linked match records.</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Show assumptions, constraints and exportable evidence.</a:t>
            </a:r>
          </a:p>
        </p:txBody>
      </p:sp>
      <p:sp>
        <p:nvSpPr>
          <p:cNvPr id="22" name="Rectangle 2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The output is a research brief that a human can inspect.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01 / OBJECTIVES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Four contributions, one inspectable workflow.</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03 / 44</a:t>
            </a:r>
          </a:p>
        </p:txBody>
      </p:sp>
      <p:sp>
        <p:nvSpPr>
          <p:cNvPr id="8" name="TextBox 7"/>
          <p:cNvSpPr txBox="1"/>
          <p:nvPr/>
        </p:nvSpPr>
        <p:spPr>
          <a:xfrm>
            <a:off x="685800" y="2395728"/>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01</a:t>
            </a:r>
          </a:p>
        </p:txBody>
      </p:sp>
      <p:sp>
        <p:nvSpPr>
          <p:cNvPr id="9" name="TextBox 8"/>
          <p:cNvSpPr txBox="1"/>
          <p:nvPr/>
        </p:nvSpPr>
        <p:spPr>
          <a:xfrm>
            <a:off x="1828800" y="2414016"/>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Evidence</a:t>
            </a:r>
          </a:p>
        </p:txBody>
      </p:sp>
      <p:sp>
        <p:nvSpPr>
          <p:cNvPr id="10" name="TextBox 9"/>
          <p:cNvSpPr txBox="1"/>
          <p:nvPr/>
        </p:nvSpPr>
        <p:spPr>
          <a:xfrm>
            <a:off x="5303520" y="2459736"/>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Registry-linked match data, explicit phases and dates.</a:t>
            </a:r>
          </a:p>
        </p:txBody>
      </p:sp>
      <p:sp>
        <p:nvSpPr>
          <p:cNvPr id="11" name="Rectangle 10"/>
          <p:cNvSpPr/>
          <p:nvPr/>
        </p:nvSpPr>
        <p:spPr>
          <a:xfrm>
            <a:off x="1828800" y="3246120"/>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3465576"/>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02</a:t>
            </a:r>
          </a:p>
        </p:txBody>
      </p:sp>
      <p:sp>
        <p:nvSpPr>
          <p:cNvPr id="13" name="TextBox 12"/>
          <p:cNvSpPr txBox="1"/>
          <p:nvPr/>
        </p:nvSpPr>
        <p:spPr>
          <a:xfrm>
            <a:off x="1828800" y="3483864"/>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Planning</a:t>
            </a:r>
          </a:p>
        </p:txBody>
      </p:sp>
      <p:sp>
        <p:nvSpPr>
          <p:cNvPr id="14" name="TextBox 13"/>
          <p:cNvSpPr txBox="1"/>
          <p:nvPr/>
        </p:nvSpPr>
        <p:spPr>
          <a:xfrm>
            <a:off x="5303520" y="3529584"/>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Choose eleven players and assign every over together.</a:t>
            </a:r>
          </a:p>
        </p:txBody>
      </p:sp>
      <p:sp>
        <p:nvSpPr>
          <p:cNvPr id="15" name="Rectangle 14"/>
          <p:cNvSpPr/>
          <p:nvPr/>
        </p:nvSpPr>
        <p:spPr>
          <a:xfrm>
            <a:off x="1828800" y="4315968"/>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85800" y="4535424"/>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03</a:t>
            </a:r>
          </a:p>
        </p:txBody>
      </p:sp>
      <p:sp>
        <p:nvSpPr>
          <p:cNvPr id="17" name="TextBox 16"/>
          <p:cNvSpPr txBox="1"/>
          <p:nvPr/>
        </p:nvSpPr>
        <p:spPr>
          <a:xfrm>
            <a:off x="1828800" y="4553712"/>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Bounded AI</a:t>
            </a:r>
          </a:p>
        </p:txBody>
      </p:sp>
      <p:sp>
        <p:nvSpPr>
          <p:cNvPr id="18" name="TextBox 17"/>
          <p:cNvSpPr txBox="1"/>
          <p:nvPr/>
        </p:nvSpPr>
        <p:spPr>
          <a:xfrm>
            <a:off x="5303520" y="4599432"/>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Optional DeepSeek selection from existing fact IDs.</a:t>
            </a:r>
          </a:p>
        </p:txBody>
      </p:sp>
      <p:sp>
        <p:nvSpPr>
          <p:cNvPr id="19" name="Rectangle 18"/>
          <p:cNvSpPr/>
          <p:nvPr/>
        </p:nvSpPr>
        <p:spPr>
          <a:xfrm>
            <a:off x="1828800" y="5385816"/>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85800" y="5605272"/>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04</a:t>
            </a:r>
          </a:p>
        </p:txBody>
      </p:sp>
      <p:sp>
        <p:nvSpPr>
          <p:cNvPr id="21" name="TextBox 20"/>
          <p:cNvSpPr txBox="1"/>
          <p:nvPr/>
        </p:nvSpPr>
        <p:spPr>
          <a:xfrm>
            <a:off x="1828800" y="5623559"/>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Reproducibility</a:t>
            </a:r>
          </a:p>
        </p:txBody>
      </p:sp>
      <p:sp>
        <p:nvSpPr>
          <p:cNvPr id="22" name="TextBox 21"/>
          <p:cNvSpPr txBox="1"/>
          <p:nvPr/>
        </p:nvSpPr>
        <p:spPr>
          <a:xfrm>
            <a:off x="5303520" y="5669280"/>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Save the question, assumptions, versions and source hashes.</a:t>
            </a:r>
          </a:p>
        </p:txBody>
      </p:sp>
      <p:sp>
        <p:nvSpPr>
          <p:cNvPr id="23" name="Rectangle 22"/>
          <p:cNvSpPr/>
          <p:nvPr/>
        </p:nvSpPr>
        <p:spPr>
          <a:xfrm>
            <a:off x="1828800" y="6455664"/>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01 / USERS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What an analyst can actually ask.</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04 / 44</a:t>
            </a:r>
          </a:p>
        </p:txBody>
      </p:sp>
      <p:sp>
        <p:nvSpPr>
          <p:cNvPr id="8" name="Rectangle 7"/>
          <p:cNvSpPr/>
          <p:nvPr/>
        </p:nvSpPr>
        <p:spPr>
          <a:xfrm>
            <a:off x="640080" y="2423160"/>
            <a:ext cx="6492240" cy="192024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2651760"/>
            <a:ext cx="603504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SCOUTING</a:t>
            </a:r>
          </a:p>
        </p:txBody>
      </p:sp>
      <p:sp>
        <p:nvSpPr>
          <p:cNvPr id="10" name="TextBox 9"/>
          <p:cNvSpPr txBox="1"/>
          <p:nvPr/>
        </p:nvSpPr>
        <p:spPr>
          <a:xfrm>
            <a:off x="868680" y="3200400"/>
            <a:ext cx="6035040" cy="91440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Which observed death bowlers deserve video review?</a:t>
            </a:r>
          </a:p>
        </p:txBody>
      </p:sp>
      <p:sp>
        <p:nvSpPr>
          <p:cNvPr id="11" name="Rectangle 10"/>
          <p:cNvSpPr/>
          <p:nvPr/>
        </p:nvSpPr>
        <p:spPr>
          <a:xfrm>
            <a:off x="7498079" y="2423160"/>
            <a:ext cx="6492240" cy="192024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26679" y="2651760"/>
            <a:ext cx="603504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XI PLANNING</a:t>
            </a:r>
          </a:p>
        </p:txBody>
      </p:sp>
      <p:sp>
        <p:nvSpPr>
          <p:cNvPr id="13" name="TextBox 12"/>
          <p:cNvSpPr txBox="1"/>
          <p:nvPr/>
        </p:nvSpPr>
        <p:spPr>
          <a:xfrm>
            <a:off x="7726679" y="3200400"/>
            <a:ext cx="6035040" cy="91440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Can MI cover twenty overs without Bumrah?</a:t>
            </a:r>
          </a:p>
        </p:txBody>
      </p:sp>
      <p:sp>
        <p:nvSpPr>
          <p:cNvPr id="14" name="Rectangle 13"/>
          <p:cNvSpPr/>
          <p:nvPr/>
        </p:nvSpPr>
        <p:spPr>
          <a:xfrm>
            <a:off x="640080" y="4681728"/>
            <a:ext cx="6492240" cy="192024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68680" y="4910328"/>
            <a:ext cx="603504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PLAYER EVIDENCE</a:t>
            </a:r>
          </a:p>
        </p:txBody>
      </p:sp>
      <p:sp>
        <p:nvSpPr>
          <p:cNvPr id="16" name="TextBox 15"/>
          <p:cNvSpPr txBox="1"/>
          <p:nvPr/>
        </p:nvSpPr>
        <p:spPr>
          <a:xfrm>
            <a:off x="868680" y="5458968"/>
            <a:ext cx="6035040" cy="91440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What does Kohli’s selected archive sample contain?</a:t>
            </a:r>
          </a:p>
        </p:txBody>
      </p:sp>
      <p:sp>
        <p:nvSpPr>
          <p:cNvPr id="17" name="Rectangle 16"/>
          <p:cNvSpPr/>
          <p:nvPr/>
        </p:nvSpPr>
        <p:spPr>
          <a:xfrm>
            <a:off x="7498079" y="4681728"/>
            <a:ext cx="6492240" cy="192024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726679" y="4910328"/>
            <a:ext cx="603504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MATCH RESEARCH</a:t>
            </a:r>
          </a:p>
        </p:txBody>
      </p:sp>
      <p:sp>
        <p:nvSpPr>
          <p:cNvPr id="19" name="TextBox 18"/>
          <p:cNvSpPr txBox="1"/>
          <p:nvPr/>
        </p:nvSpPr>
        <p:spPr>
          <a:xfrm>
            <a:off x="7726679" y="5458968"/>
            <a:ext cx="6035040" cy="91440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Does a research model beat its historical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02 / PRODUCT MAP</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Ten workspaces; a single research loop.</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05 / 44</a:t>
            </a:r>
          </a:p>
        </p:txBody>
      </p:sp>
      <p:sp>
        <p:nvSpPr>
          <p:cNvPr id="8" name="TextBox 7"/>
          <p:cNvSpPr txBox="1"/>
          <p:nvPr/>
        </p:nvSpPr>
        <p:spPr>
          <a:xfrm>
            <a:off x="640080" y="2350008"/>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01</a:t>
            </a:r>
          </a:p>
        </p:txBody>
      </p:sp>
      <p:sp>
        <p:nvSpPr>
          <p:cNvPr id="9" name="TextBox 8"/>
          <p:cNvSpPr txBox="1"/>
          <p:nvPr/>
        </p:nvSpPr>
        <p:spPr>
          <a:xfrm>
            <a:off x="1280160" y="2350008"/>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Home</a:t>
            </a:r>
          </a:p>
        </p:txBody>
      </p:sp>
      <p:sp>
        <p:nvSpPr>
          <p:cNvPr id="10" name="TextBox 9"/>
          <p:cNvSpPr txBox="1"/>
          <p:nvPr/>
        </p:nvSpPr>
        <p:spPr>
          <a:xfrm>
            <a:off x="1280160" y="2743200"/>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Purpose, examples, coverage</a:t>
            </a:r>
          </a:p>
        </p:txBody>
      </p:sp>
      <p:sp>
        <p:nvSpPr>
          <p:cNvPr id="11" name="TextBox 10"/>
          <p:cNvSpPr txBox="1"/>
          <p:nvPr/>
        </p:nvSpPr>
        <p:spPr>
          <a:xfrm>
            <a:off x="640080" y="3282696"/>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02</a:t>
            </a:r>
          </a:p>
        </p:txBody>
      </p:sp>
      <p:sp>
        <p:nvSpPr>
          <p:cNvPr id="12" name="TextBox 11"/>
          <p:cNvSpPr txBox="1"/>
          <p:nvPr/>
        </p:nvSpPr>
        <p:spPr>
          <a:xfrm>
            <a:off x="1280160" y="3282696"/>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Decision desk</a:t>
            </a:r>
          </a:p>
        </p:txBody>
      </p:sp>
      <p:sp>
        <p:nvSpPr>
          <p:cNvPr id="13" name="TextBox 12"/>
          <p:cNvSpPr txBox="1"/>
          <p:nvPr/>
        </p:nvSpPr>
        <p:spPr>
          <a:xfrm>
            <a:off x="1280160" y="3675887"/>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Checked research briefs</a:t>
            </a:r>
          </a:p>
        </p:txBody>
      </p:sp>
      <p:sp>
        <p:nvSpPr>
          <p:cNvPr id="14" name="TextBox 13"/>
          <p:cNvSpPr txBox="1"/>
          <p:nvPr/>
        </p:nvSpPr>
        <p:spPr>
          <a:xfrm>
            <a:off x="640080" y="4215383"/>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03</a:t>
            </a:r>
          </a:p>
        </p:txBody>
      </p:sp>
      <p:sp>
        <p:nvSpPr>
          <p:cNvPr id="15" name="TextBox 14"/>
          <p:cNvSpPr txBox="1"/>
          <p:nvPr/>
        </p:nvSpPr>
        <p:spPr>
          <a:xfrm>
            <a:off x="1280160" y="4215383"/>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Scouting &amp; comparison</a:t>
            </a:r>
          </a:p>
        </p:txBody>
      </p:sp>
      <p:sp>
        <p:nvSpPr>
          <p:cNvPr id="16" name="TextBox 15"/>
          <p:cNvSpPr txBox="1"/>
          <p:nvPr/>
        </p:nvSpPr>
        <p:spPr>
          <a:xfrm>
            <a:off x="1280160" y="4608575"/>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Scope, rank, compare</a:t>
            </a:r>
          </a:p>
        </p:txBody>
      </p:sp>
      <p:sp>
        <p:nvSpPr>
          <p:cNvPr id="17" name="TextBox 16"/>
          <p:cNvSpPr txBox="1"/>
          <p:nvPr/>
        </p:nvSpPr>
        <p:spPr>
          <a:xfrm>
            <a:off x="640080" y="5148072"/>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04</a:t>
            </a:r>
          </a:p>
        </p:txBody>
      </p:sp>
      <p:sp>
        <p:nvSpPr>
          <p:cNvPr id="18" name="TextBox 17"/>
          <p:cNvSpPr txBox="1"/>
          <p:nvPr/>
        </p:nvSpPr>
        <p:spPr>
          <a:xfrm>
            <a:off x="1280160" y="5148072"/>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Squad &amp; auction scenarios</a:t>
            </a:r>
          </a:p>
        </p:txBody>
      </p:sp>
      <p:sp>
        <p:nvSpPr>
          <p:cNvPr id="19" name="TextBox 18"/>
          <p:cNvSpPr txBox="1"/>
          <p:nvPr/>
        </p:nvSpPr>
        <p:spPr>
          <a:xfrm>
            <a:off x="1280160" y="5541264"/>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XI, schedules, assumptions</a:t>
            </a:r>
          </a:p>
        </p:txBody>
      </p:sp>
      <p:sp>
        <p:nvSpPr>
          <p:cNvPr id="20" name="TextBox 19"/>
          <p:cNvSpPr txBox="1"/>
          <p:nvPr/>
        </p:nvSpPr>
        <p:spPr>
          <a:xfrm>
            <a:off x="640080" y="6080760"/>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05</a:t>
            </a:r>
          </a:p>
        </p:txBody>
      </p:sp>
      <p:sp>
        <p:nvSpPr>
          <p:cNvPr id="21" name="TextBox 20"/>
          <p:cNvSpPr txBox="1"/>
          <p:nvPr/>
        </p:nvSpPr>
        <p:spPr>
          <a:xfrm>
            <a:off x="1280160" y="6080760"/>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Player dossier</a:t>
            </a:r>
          </a:p>
        </p:txBody>
      </p:sp>
      <p:sp>
        <p:nvSpPr>
          <p:cNvPr id="22" name="TextBox 21"/>
          <p:cNvSpPr txBox="1"/>
          <p:nvPr/>
        </p:nvSpPr>
        <p:spPr>
          <a:xfrm>
            <a:off x="1280160" y="6473952"/>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Identity and archive evidence</a:t>
            </a:r>
          </a:p>
        </p:txBody>
      </p:sp>
      <p:sp>
        <p:nvSpPr>
          <p:cNvPr id="23" name="TextBox 22"/>
          <p:cNvSpPr txBox="1"/>
          <p:nvPr/>
        </p:nvSpPr>
        <p:spPr>
          <a:xfrm>
            <a:off x="7498079" y="2350008"/>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06</a:t>
            </a:r>
          </a:p>
        </p:txBody>
      </p:sp>
      <p:sp>
        <p:nvSpPr>
          <p:cNvPr id="24" name="TextBox 23"/>
          <p:cNvSpPr txBox="1"/>
          <p:nvPr/>
        </p:nvSpPr>
        <p:spPr>
          <a:xfrm>
            <a:off x="8138159" y="2350008"/>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Match research</a:t>
            </a:r>
          </a:p>
        </p:txBody>
      </p:sp>
      <p:sp>
        <p:nvSpPr>
          <p:cNvPr id="25" name="TextBox 24"/>
          <p:cNvSpPr txBox="1"/>
          <p:nvPr/>
        </p:nvSpPr>
        <p:spPr>
          <a:xfrm>
            <a:off x="8138159" y="2743200"/>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Baseline and dated holdout</a:t>
            </a:r>
          </a:p>
        </p:txBody>
      </p:sp>
      <p:sp>
        <p:nvSpPr>
          <p:cNvPr id="26" name="TextBox 25"/>
          <p:cNvSpPr txBox="1"/>
          <p:nvPr/>
        </p:nvSpPr>
        <p:spPr>
          <a:xfrm>
            <a:off x="7498079" y="3282696"/>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07</a:t>
            </a:r>
          </a:p>
        </p:txBody>
      </p:sp>
      <p:sp>
        <p:nvSpPr>
          <p:cNvPr id="27" name="TextBox 26"/>
          <p:cNvSpPr txBox="1"/>
          <p:nvPr/>
        </p:nvSpPr>
        <p:spPr>
          <a:xfrm>
            <a:off x="8138159" y="3282696"/>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Decision journal</a:t>
            </a:r>
          </a:p>
        </p:txBody>
      </p:sp>
      <p:sp>
        <p:nvSpPr>
          <p:cNvPr id="28" name="TextBox 27"/>
          <p:cNvSpPr txBox="1"/>
          <p:nvPr/>
        </p:nvSpPr>
        <p:spPr>
          <a:xfrm>
            <a:off x="8138159" y="3675887"/>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Save and export reasoning</a:t>
            </a:r>
          </a:p>
        </p:txBody>
      </p:sp>
      <p:sp>
        <p:nvSpPr>
          <p:cNvPr id="29" name="TextBox 28"/>
          <p:cNvSpPr txBox="1"/>
          <p:nvPr/>
        </p:nvSpPr>
        <p:spPr>
          <a:xfrm>
            <a:off x="7498079" y="4215383"/>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08</a:t>
            </a:r>
          </a:p>
        </p:txBody>
      </p:sp>
      <p:sp>
        <p:nvSpPr>
          <p:cNvPr id="30" name="TextBox 29"/>
          <p:cNvSpPr txBox="1"/>
          <p:nvPr/>
        </p:nvSpPr>
        <p:spPr>
          <a:xfrm>
            <a:off x="8138159" y="4215383"/>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Evaluation &amp; sources</a:t>
            </a:r>
          </a:p>
        </p:txBody>
      </p:sp>
      <p:sp>
        <p:nvSpPr>
          <p:cNvPr id="31" name="TextBox 30"/>
          <p:cNvSpPr txBox="1"/>
          <p:nvPr/>
        </p:nvSpPr>
        <p:spPr>
          <a:xfrm>
            <a:off x="8138159" y="4608575"/>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Audits, SWOT, review tasks</a:t>
            </a:r>
          </a:p>
        </p:txBody>
      </p:sp>
      <p:sp>
        <p:nvSpPr>
          <p:cNvPr id="32" name="TextBox 31"/>
          <p:cNvSpPr txBox="1"/>
          <p:nvPr/>
        </p:nvSpPr>
        <p:spPr>
          <a:xfrm>
            <a:off x="7498079" y="5148072"/>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09</a:t>
            </a:r>
          </a:p>
        </p:txBody>
      </p:sp>
      <p:sp>
        <p:nvSpPr>
          <p:cNvPr id="33" name="TextBox 32"/>
          <p:cNvSpPr txBox="1"/>
          <p:nvPr/>
        </p:nvSpPr>
        <p:spPr>
          <a:xfrm>
            <a:off x="8138159" y="5148072"/>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Project guide</a:t>
            </a:r>
          </a:p>
        </p:txBody>
      </p:sp>
      <p:sp>
        <p:nvSpPr>
          <p:cNvPr id="34" name="TextBox 33"/>
          <p:cNvSpPr txBox="1"/>
          <p:nvPr/>
        </p:nvSpPr>
        <p:spPr>
          <a:xfrm>
            <a:off x="8138159" y="5541264"/>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Explain, install, reproduce</a:t>
            </a:r>
          </a:p>
        </p:txBody>
      </p:sp>
      <p:sp>
        <p:nvSpPr>
          <p:cNvPr id="35" name="TextBox 34"/>
          <p:cNvSpPr txBox="1"/>
          <p:nvPr/>
        </p:nvSpPr>
        <p:spPr>
          <a:xfrm>
            <a:off x="7498079" y="6080760"/>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10</a:t>
            </a:r>
          </a:p>
        </p:txBody>
      </p:sp>
      <p:sp>
        <p:nvSpPr>
          <p:cNvPr id="36" name="TextBox 35"/>
          <p:cNvSpPr txBox="1"/>
          <p:nvPr/>
        </p:nvSpPr>
        <p:spPr>
          <a:xfrm>
            <a:off x="8138159" y="6080760"/>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Settings</a:t>
            </a:r>
          </a:p>
        </p:txBody>
      </p:sp>
      <p:sp>
        <p:nvSpPr>
          <p:cNvPr id="37" name="TextBox 36"/>
          <p:cNvSpPr txBox="1"/>
          <p:nvPr/>
        </p:nvSpPr>
        <p:spPr>
          <a:xfrm>
            <a:off x="8138159" y="6473952"/>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Private key and call allowance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02 / DATA</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Five archives. Coverage is a first-class feature.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06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3352140" cy="292608"/>
          </a:xfrm>
          <a:prstGeom prst="rect">
            <a:avLst/>
          </a:prstGeom>
          <a:noFill/>
        </p:spPr>
        <p:txBody>
          <a:bodyPr wrap="square" lIns="0" rIns="0" tIns="0" bIns="0">
            <a:spAutoFit/>
          </a:bodyPr>
          <a:lstStyle/>
          <a:p>
            <a:pPr algn="l">
              <a:lnSpc>
                <a:spcPct val="112000"/>
              </a:lnSpc>
              <a:spcAft>
                <a:spcPts val="600"/>
              </a:spcAft>
              <a:defRPr sz="1800" b="1">
                <a:solidFill>
                  <a:srgbClr val="FFFFFF"/>
                </a:solidFill>
                <a:latin typeface="Liberation Sans"/>
              </a:defRPr>
            </a:pPr>
            <a:r>
              <a:t>Competition</a:t>
            </a:r>
          </a:p>
        </p:txBody>
      </p:sp>
      <p:sp>
        <p:nvSpPr>
          <p:cNvPr id="10" name="TextBox 9"/>
          <p:cNvSpPr txBox="1"/>
          <p:nvPr/>
        </p:nvSpPr>
        <p:spPr>
          <a:xfrm>
            <a:off x="4394556" y="2551176"/>
            <a:ext cx="2269689" cy="292608"/>
          </a:xfrm>
          <a:prstGeom prst="rect">
            <a:avLst/>
          </a:prstGeom>
          <a:noFill/>
        </p:spPr>
        <p:txBody>
          <a:bodyPr wrap="square" lIns="0" rIns="0" tIns="0" bIns="0">
            <a:spAutoFit/>
          </a:bodyPr>
          <a:lstStyle/>
          <a:p>
            <a:pPr algn="l">
              <a:lnSpc>
                <a:spcPct val="112000"/>
              </a:lnSpc>
              <a:spcAft>
                <a:spcPts val="600"/>
              </a:spcAft>
              <a:defRPr sz="1800" b="1">
                <a:solidFill>
                  <a:srgbClr val="FFFFFF"/>
                </a:solidFill>
                <a:latin typeface="Liberation Sans"/>
              </a:defRPr>
            </a:pPr>
            <a:r>
              <a:t>Matches</a:t>
            </a:r>
          </a:p>
        </p:txBody>
      </p:sp>
      <p:sp>
        <p:nvSpPr>
          <p:cNvPr id="11" name="TextBox 10"/>
          <p:cNvSpPr txBox="1"/>
          <p:nvPr/>
        </p:nvSpPr>
        <p:spPr>
          <a:xfrm>
            <a:off x="6920278" y="2551176"/>
            <a:ext cx="3352140" cy="292608"/>
          </a:xfrm>
          <a:prstGeom prst="rect">
            <a:avLst/>
          </a:prstGeom>
          <a:noFill/>
        </p:spPr>
        <p:txBody>
          <a:bodyPr wrap="square" lIns="0" rIns="0" tIns="0" bIns="0">
            <a:spAutoFit/>
          </a:bodyPr>
          <a:lstStyle/>
          <a:p>
            <a:pPr algn="l">
              <a:lnSpc>
                <a:spcPct val="112000"/>
              </a:lnSpc>
              <a:spcAft>
                <a:spcPts val="600"/>
              </a:spcAft>
              <a:defRPr sz="1800" b="1">
                <a:solidFill>
                  <a:srgbClr val="FFFFFF"/>
                </a:solidFill>
                <a:latin typeface="Liberation Sans"/>
              </a:defRPr>
            </a:pPr>
            <a:r>
              <a:t>Earliest</a:t>
            </a:r>
          </a:p>
        </p:txBody>
      </p:sp>
      <p:sp>
        <p:nvSpPr>
          <p:cNvPr id="12" name="TextBox 11"/>
          <p:cNvSpPr txBox="1"/>
          <p:nvPr/>
        </p:nvSpPr>
        <p:spPr>
          <a:xfrm>
            <a:off x="10528451" y="2551176"/>
            <a:ext cx="3352140" cy="292608"/>
          </a:xfrm>
          <a:prstGeom prst="rect">
            <a:avLst/>
          </a:prstGeom>
          <a:noFill/>
        </p:spPr>
        <p:txBody>
          <a:bodyPr wrap="square" lIns="0" rIns="0" tIns="0" bIns="0">
            <a:spAutoFit/>
          </a:bodyPr>
          <a:lstStyle/>
          <a:p>
            <a:pPr algn="l">
              <a:lnSpc>
                <a:spcPct val="112000"/>
              </a:lnSpc>
              <a:spcAft>
                <a:spcPts val="600"/>
              </a:spcAft>
              <a:defRPr sz="1800" b="1">
                <a:solidFill>
                  <a:srgbClr val="FFFFFF"/>
                </a:solidFill>
                <a:latin typeface="Liberation Sans"/>
              </a:defRPr>
            </a:pPr>
            <a:r>
              <a:t>Latest</a:t>
            </a:r>
          </a:p>
        </p:txBody>
      </p:sp>
      <p:sp>
        <p:nvSpPr>
          <p:cNvPr id="13" name="Rectangle 12"/>
          <p:cNvSpPr/>
          <p:nvPr/>
        </p:nvSpPr>
        <p:spPr>
          <a:xfrm>
            <a:off x="640080" y="2953512"/>
            <a:ext cx="13350240"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86384" y="3081528"/>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IPL</a:t>
            </a:r>
          </a:p>
        </p:txBody>
      </p:sp>
      <p:sp>
        <p:nvSpPr>
          <p:cNvPr id="15" name="TextBox 14"/>
          <p:cNvSpPr txBox="1"/>
          <p:nvPr/>
        </p:nvSpPr>
        <p:spPr>
          <a:xfrm>
            <a:off x="4394556" y="3081528"/>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1,242</a:t>
            </a:r>
          </a:p>
        </p:txBody>
      </p:sp>
      <p:sp>
        <p:nvSpPr>
          <p:cNvPr id="16" name="TextBox 15"/>
          <p:cNvSpPr txBox="1"/>
          <p:nvPr/>
        </p:nvSpPr>
        <p:spPr>
          <a:xfrm>
            <a:off x="6920278" y="3081528"/>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2008-04-18</a:t>
            </a:r>
          </a:p>
        </p:txBody>
      </p:sp>
      <p:sp>
        <p:nvSpPr>
          <p:cNvPr id="17" name="TextBox 16"/>
          <p:cNvSpPr txBox="1"/>
          <p:nvPr/>
        </p:nvSpPr>
        <p:spPr>
          <a:xfrm>
            <a:off x="10528451" y="3081528"/>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2026-05-31</a:t>
            </a:r>
          </a:p>
        </p:txBody>
      </p:sp>
      <p:sp>
        <p:nvSpPr>
          <p:cNvPr id="18" name="Rectangle 17"/>
          <p:cNvSpPr/>
          <p:nvPr/>
        </p:nvSpPr>
        <p:spPr>
          <a:xfrm>
            <a:off x="640080" y="3575304"/>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3575304"/>
            <a:ext cx="13350240" cy="62179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3703320"/>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BBL</a:t>
            </a:r>
          </a:p>
        </p:txBody>
      </p:sp>
      <p:sp>
        <p:nvSpPr>
          <p:cNvPr id="21" name="TextBox 20"/>
          <p:cNvSpPr txBox="1"/>
          <p:nvPr/>
        </p:nvSpPr>
        <p:spPr>
          <a:xfrm>
            <a:off x="4394556" y="3703320"/>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662</a:t>
            </a:r>
          </a:p>
        </p:txBody>
      </p:sp>
      <p:sp>
        <p:nvSpPr>
          <p:cNvPr id="22" name="TextBox 21"/>
          <p:cNvSpPr txBox="1"/>
          <p:nvPr/>
        </p:nvSpPr>
        <p:spPr>
          <a:xfrm>
            <a:off x="6920278" y="3703320"/>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2011-12-16</a:t>
            </a:r>
          </a:p>
        </p:txBody>
      </p:sp>
      <p:sp>
        <p:nvSpPr>
          <p:cNvPr id="23" name="TextBox 22"/>
          <p:cNvSpPr txBox="1"/>
          <p:nvPr/>
        </p:nvSpPr>
        <p:spPr>
          <a:xfrm>
            <a:off x="10528451" y="3703320"/>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2026-01-25</a:t>
            </a:r>
          </a:p>
        </p:txBody>
      </p:sp>
      <p:sp>
        <p:nvSpPr>
          <p:cNvPr id="24" name="Rectangle 23"/>
          <p:cNvSpPr/>
          <p:nvPr/>
        </p:nvSpPr>
        <p:spPr>
          <a:xfrm>
            <a:off x="640080" y="4197096"/>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640080" y="4197096"/>
            <a:ext cx="13350240"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86384" y="4325112"/>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Hundred</a:t>
            </a:r>
          </a:p>
        </p:txBody>
      </p:sp>
      <p:sp>
        <p:nvSpPr>
          <p:cNvPr id="27" name="TextBox 26"/>
          <p:cNvSpPr txBox="1"/>
          <p:nvPr/>
        </p:nvSpPr>
        <p:spPr>
          <a:xfrm>
            <a:off x="4394556" y="4325112"/>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201</a:t>
            </a:r>
          </a:p>
        </p:txBody>
      </p:sp>
      <p:sp>
        <p:nvSpPr>
          <p:cNvPr id="28" name="TextBox 27"/>
          <p:cNvSpPr txBox="1"/>
          <p:nvPr/>
        </p:nvSpPr>
        <p:spPr>
          <a:xfrm>
            <a:off x="6920278" y="4325112"/>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2021-07-22</a:t>
            </a:r>
          </a:p>
        </p:txBody>
      </p:sp>
      <p:sp>
        <p:nvSpPr>
          <p:cNvPr id="29" name="TextBox 28"/>
          <p:cNvSpPr txBox="1"/>
          <p:nvPr/>
        </p:nvSpPr>
        <p:spPr>
          <a:xfrm>
            <a:off x="10528451" y="4325112"/>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2026-08-16</a:t>
            </a:r>
          </a:p>
        </p:txBody>
      </p:sp>
      <p:sp>
        <p:nvSpPr>
          <p:cNvPr id="30" name="Rectangle 29"/>
          <p:cNvSpPr/>
          <p:nvPr/>
        </p:nvSpPr>
        <p:spPr>
          <a:xfrm>
            <a:off x="640080" y="4818888"/>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40080" y="4818888"/>
            <a:ext cx="13350240" cy="62179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86384" y="4946903"/>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T20I</a:t>
            </a:r>
          </a:p>
        </p:txBody>
      </p:sp>
      <p:sp>
        <p:nvSpPr>
          <p:cNvPr id="33" name="TextBox 32"/>
          <p:cNvSpPr txBox="1"/>
          <p:nvPr/>
        </p:nvSpPr>
        <p:spPr>
          <a:xfrm>
            <a:off x="4394556" y="4946903"/>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3,592</a:t>
            </a:r>
          </a:p>
        </p:txBody>
      </p:sp>
      <p:sp>
        <p:nvSpPr>
          <p:cNvPr id="34" name="TextBox 33"/>
          <p:cNvSpPr txBox="1"/>
          <p:nvPr/>
        </p:nvSpPr>
        <p:spPr>
          <a:xfrm>
            <a:off x="6920278" y="4946903"/>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2005-02-17</a:t>
            </a:r>
          </a:p>
        </p:txBody>
      </p:sp>
      <p:sp>
        <p:nvSpPr>
          <p:cNvPr id="35" name="TextBox 34"/>
          <p:cNvSpPr txBox="1"/>
          <p:nvPr/>
        </p:nvSpPr>
        <p:spPr>
          <a:xfrm>
            <a:off x="10528451" y="4946903"/>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2026-10-06</a:t>
            </a:r>
          </a:p>
        </p:txBody>
      </p:sp>
      <p:sp>
        <p:nvSpPr>
          <p:cNvPr id="36" name="Rectangle 35"/>
          <p:cNvSpPr/>
          <p:nvPr/>
        </p:nvSpPr>
        <p:spPr>
          <a:xfrm>
            <a:off x="640080" y="5440679"/>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640080" y="5440680"/>
            <a:ext cx="13350240"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86384" y="5568696"/>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SMAT</a:t>
            </a:r>
          </a:p>
        </p:txBody>
      </p:sp>
      <p:sp>
        <p:nvSpPr>
          <p:cNvPr id="39" name="TextBox 38"/>
          <p:cNvSpPr txBox="1"/>
          <p:nvPr/>
        </p:nvSpPr>
        <p:spPr>
          <a:xfrm>
            <a:off x="4394556" y="5568696"/>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695</a:t>
            </a:r>
          </a:p>
        </p:txBody>
      </p:sp>
      <p:sp>
        <p:nvSpPr>
          <p:cNvPr id="40" name="TextBox 39"/>
          <p:cNvSpPr txBox="1"/>
          <p:nvPr/>
        </p:nvSpPr>
        <p:spPr>
          <a:xfrm>
            <a:off x="6920278" y="5568696"/>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2016-01-02</a:t>
            </a:r>
          </a:p>
        </p:txBody>
      </p:sp>
      <p:sp>
        <p:nvSpPr>
          <p:cNvPr id="41" name="TextBox 40"/>
          <p:cNvSpPr txBox="1"/>
          <p:nvPr/>
        </p:nvSpPr>
        <p:spPr>
          <a:xfrm>
            <a:off x="10528451" y="5568696"/>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2024-12-15</a:t>
            </a:r>
          </a:p>
        </p:txBody>
      </p:sp>
      <p:sp>
        <p:nvSpPr>
          <p:cNvPr id="42" name="Rectangle 41"/>
          <p:cNvSpPr/>
          <p:nvPr/>
        </p:nvSpPr>
        <p:spPr>
          <a:xfrm>
            <a:off x="640080" y="60624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6,392 eligible matches  /  Frozen supplied records  /  No automatic live updates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02 / DATA ENGINEERING</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From deliveries to dated player evidence.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07 / 44</a:t>
            </a:r>
          </a:p>
        </p:txBody>
      </p:sp>
      <p:sp>
        <p:nvSpPr>
          <p:cNvPr id="8" name="TextBox 7"/>
          <p:cNvSpPr txBox="1"/>
          <p:nvPr/>
        </p:nvSpPr>
        <p:spPr>
          <a:xfrm>
            <a:off x="640080"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01</a:t>
            </a:r>
          </a:p>
        </p:txBody>
      </p:sp>
      <p:sp>
        <p:nvSpPr>
          <p:cNvPr id="9" name="Rectangle 8"/>
          <p:cNvSpPr/>
          <p:nvPr/>
        </p:nvSpPr>
        <p:spPr>
          <a:xfrm>
            <a:off x="640080"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95528"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Read</a:t>
            </a:r>
          </a:p>
        </p:txBody>
      </p:sp>
      <p:sp>
        <p:nvSpPr>
          <p:cNvPr id="11" name="TextBox 10"/>
          <p:cNvSpPr txBox="1"/>
          <p:nvPr/>
        </p:nvSpPr>
        <p:spPr>
          <a:xfrm>
            <a:off x="795528"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Five JSON ZIP archives</a:t>
            </a:r>
          </a:p>
        </p:txBody>
      </p:sp>
      <p:sp>
        <p:nvSpPr>
          <p:cNvPr id="12" name="Right Arrow 11"/>
          <p:cNvSpPr/>
          <p:nvPr/>
        </p:nvSpPr>
        <p:spPr>
          <a:xfrm>
            <a:off x="3118104"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364991"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02</a:t>
            </a:r>
          </a:p>
        </p:txBody>
      </p:sp>
      <p:sp>
        <p:nvSpPr>
          <p:cNvPr id="14" name="Rectangle 13"/>
          <p:cNvSpPr/>
          <p:nvPr/>
        </p:nvSpPr>
        <p:spPr>
          <a:xfrm>
            <a:off x="3364991"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20439"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Filter</a:t>
            </a:r>
          </a:p>
        </p:txBody>
      </p:sp>
      <p:sp>
        <p:nvSpPr>
          <p:cNvPr id="16" name="TextBox 15"/>
          <p:cNvSpPr txBox="1"/>
          <p:nvPr/>
        </p:nvSpPr>
        <p:spPr>
          <a:xfrm>
            <a:off x="3520439"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Eligible men’s matches</a:t>
            </a:r>
          </a:p>
        </p:txBody>
      </p:sp>
      <p:sp>
        <p:nvSpPr>
          <p:cNvPr id="17" name="Right Arrow 16"/>
          <p:cNvSpPr/>
          <p:nvPr/>
        </p:nvSpPr>
        <p:spPr>
          <a:xfrm>
            <a:off x="5843016"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089904"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03</a:t>
            </a:r>
          </a:p>
        </p:txBody>
      </p:sp>
      <p:sp>
        <p:nvSpPr>
          <p:cNvPr id="19" name="Rectangle 18"/>
          <p:cNvSpPr/>
          <p:nvPr/>
        </p:nvSpPr>
        <p:spPr>
          <a:xfrm>
            <a:off x="6089904"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45352"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Link</a:t>
            </a:r>
          </a:p>
        </p:txBody>
      </p:sp>
      <p:sp>
        <p:nvSpPr>
          <p:cNvPr id="21" name="TextBox 20"/>
          <p:cNvSpPr txBox="1"/>
          <p:nvPr/>
        </p:nvSpPr>
        <p:spPr>
          <a:xfrm>
            <a:off x="6245352"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Registry IDs and aliases</a:t>
            </a:r>
          </a:p>
        </p:txBody>
      </p:sp>
      <p:sp>
        <p:nvSpPr>
          <p:cNvPr id="22" name="Right Arrow 21"/>
          <p:cNvSpPr/>
          <p:nvPr/>
        </p:nvSpPr>
        <p:spPr>
          <a:xfrm>
            <a:off x="8567928"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814815"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04</a:t>
            </a:r>
          </a:p>
        </p:txBody>
      </p:sp>
      <p:sp>
        <p:nvSpPr>
          <p:cNvPr id="24" name="Rectangle 23"/>
          <p:cNvSpPr/>
          <p:nvPr/>
        </p:nvSpPr>
        <p:spPr>
          <a:xfrm>
            <a:off x="8814815"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970263"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Aggregate</a:t>
            </a:r>
          </a:p>
        </p:txBody>
      </p:sp>
      <p:sp>
        <p:nvSpPr>
          <p:cNvPr id="26" name="TextBox 25"/>
          <p:cNvSpPr txBox="1"/>
          <p:nvPr/>
        </p:nvSpPr>
        <p:spPr>
          <a:xfrm>
            <a:off x="8970263"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Player, match and phase</a:t>
            </a:r>
          </a:p>
        </p:txBody>
      </p:sp>
      <p:sp>
        <p:nvSpPr>
          <p:cNvPr id="27" name="Right Arrow 26"/>
          <p:cNvSpPr/>
          <p:nvPr/>
        </p:nvSpPr>
        <p:spPr>
          <a:xfrm>
            <a:off x="11292839"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1539728"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05</a:t>
            </a:r>
          </a:p>
        </p:txBody>
      </p:sp>
      <p:sp>
        <p:nvSpPr>
          <p:cNvPr id="29" name="Rectangle 28"/>
          <p:cNvSpPr/>
          <p:nvPr/>
        </p:nvSpPr>
        <p:spPr>
          <a:xfrm>
            <a:off x="11539728"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1695176"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Verify</a:t>
            </a:r>
          </a:p>
        </p:txBody>
      </p:sp>
      <p:sp>
        <p:nvSpPr>
          <p:cNvPr id="31" name="TextBox 30"/>
          <p:cNvSpPr txBox="1"/>
          <p:nvPr/>
        </p:nvSpPr>
        <p:spPr>
          <a:xfrm>
            <a:off x="11695176"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Independent raw checks</a:t>
            </a:r>
          </a:p>
        </p:txBody>
      </p:sp>
      <p:sp>
        <p:nvSpPr>
          <p:cNvPr id="32" name="Rectangle 3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Super overs stay separate; voided and duplicate match IDs are excluded.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03 / ARCHITECTURE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calculation engine owns the facts.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08 / 44</a:t>
            </a:r>
          </a:p>
        </p:txBody>
      </p:sp>
      <p:sp>
        <p:nvSpPr>
          <p:cNvPr id="8" name="Rectangle 7"/>
          <p:cNvSpPr/>
          <p:nvPr/>
        </p:nvSpPr>
        <p:spPr>
          <a:xfrm>
            <a:off x="640080" y="2651760"/>
            <a:ext cx="2926080" cy="15544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95528" y="28254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Streamlit UI</a:t>
            </a:r>
          </a:p>
        </p:txBody>
      </p:sp>
      <p:sp>
        <p:nvSpPr>
          <p:cNvPr id="10" name="TextBox 9"/>
          <p:cNvSpPr txBox="1"/>
          <p:nvPr/>
        </p:nvSpPr>
        <p:spPr>
          <a:xfrm>
            <a:off x="795528" y="3291839"/>
            <a:ext cx="2615184" cy="8961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Question + confirmed controls</a:t>
            </a:r>
          </a:p>
        </p:txBody>
      </p:sp>
      <p:sp>
        <p:nvSpPr>
          <p:cNvPr id="11" name="Right Arrow 10"/>
          <p:cNvSpPr/>
          <p:nvPr/>
        </p:nvSpPr>
        <p:spPr>
          <a:xfrm>
            <a:off x="3703320" y="3246120"/>
            <a:ext cx="27432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114800" y="2651760"/>
            <a:ext cx="2926080" cy="15544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270248" y="28254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Context checker</a:t>
            </a:r>
          </a:p>
        </p:txBody>
      </p:sp>
      <p:sp>
        <p:nvSpPr>
          <p:cNvPr id="14" name="TextBox 13"/>
          <p:cNvSpPr txBox="1"/>
          <p:nvPr/>
        </p:nvSpPr>
        <p:spPr>
          <a:xfrm>
            <a:off x="4270248" y="3291839"/>
            <a:ext cx="2615184" cy="8961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Task, identity, date, assumptions</a:t>
            </a:r>
          </a:p>
        </p:txBody>
      </p:sp>
      <p:sp>
        <p:nvSpPr>
          <p:cNvPr id="15" name="Right Arrow 14"/>
          <p:cNvSpPr/>
          <p:nvPr/>
        </p:nvSpPr>
        <p:spPr>
          <a:xfrm>
            <a:off x="7178040" y="3246120"/>
            <a:ext cx="27432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7589519" y="2651760"/>
            <a:ext cx="2926080" cy="15544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744967" y="28254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Evidence tool</a:t>
            </a:r>
          </a:p>
        </p:txBody>
      </p:sp>
      <p:sp>
        <p:nvSpPr>
          <p:cNvPr id="18" name="TextBox 17"/>
          <p:cNvSpPr txBox="1"/>
          <p:nvPr/>
        </p:nvSpPr>
        <p:spPr>
          <a:xfrm>
            <a:off x="7744967" y="3291839"/>
            <a:ext cx="2615184" cy="8961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Records, scores, XI or baseline</a:t>
            </a:r>
          </a:p>
        </p:txBody>
      </p:sp>
      <p:sp>
        <p:nvSpPr>
          <p:cNvPr id="19" name="Right Arrow 18"/>
          <p:cNvSpPr/>
          <p:nvPr/>
        </p:nvSpPr>
        <p:spPr>
          <a:xfrm>
            <a:off x="10652759" y="3246120"/>
            <a:ext cx="27432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11064239" y="2651760"/>
            <a:ext cx="2926080" cy="15544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1219687" y="28254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Checked brief</a:t>
            </a:r>
          </a:p>
        </p:txBody>
      </p:sp>
      <p:sp>
        <p:nvSpPr>
          <p:cNvPr id="22" name="TextBox 21"/>
          <p:cNvSpPr txBox="1"/>
          <p:nvPr/>
        </p:nvSpPr>
        <p:spPr>
          <a:xfrm>
            <a:off x="11219687" y="3291839"/>
            <a:ext cx="2615184" cy="8961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Validated facts + complete output</a:t>
            </a:r>
          </a:p>
        </p:txBody>
      </p:sp>
      <p:sp>
        <p:nvSpPr>
          <p:cNvPr id="23" name="Rectangle 22"/>
          <p:cNvSpPr/>
          <p:nvPr/>
        </p:nvSpPr>
        <p:spPr>
          <a:xfrm>
            <a:off x="640080" y="5166360"/>
            <a:ext cx="6309360" cy="13258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95528" y="5340096"/>
            <a:ext cx="59984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Journal + exports</a:t>
            </a:r>
          </a:p>
        </p:txBody>
      </p:sp>
      <p:sp>
        <p:nvSpPr>
          <p:cNvPr id="25" name="TextBox 24"/>
          <p:cNvSpPr txBox="1"/>
          <p:nvPr/>
        </p:nvSpPr>
        <p:spPr>
          <a:xfrm>
            <a:off x="795528" y="5806440"/>
            <a:ext cx="5998464" cy="6675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Scoped records and reproducible decision packs</a:t>
            </a:r>
          </a:p>
        </p:txBody>
      </p:sp>
      <p:sp>
        <p:nvSpPr>
          <p:cNvPr id="26" name="Rectangle 25"/>
          <p:cNvSpPr/>
          <p:nvPr/>
        </p:nvSpPr>
        <p:spPr>
          <a:xfrm>
            <a:off x="7589520" y="5166360"/>
            <a:ext cx="2926080" cy="13258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44968" y="53400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Source inputs</a:t>
            </a:r>
          </a:p>
        </p:txBody>
      </p:sp>
      <p:sp>
        <p:nvSpPr>
          <p:cNvPr id="28" name="TextBox 27"/>
          <p:cNvSpPr txBox="1"/>
          <p:nvPr/>
        </p:nvSpPr>
        <p:spPr>
          <a:xfrm>
            <a:off x="7744968" y="5806440"/>
            <a:ext cx="2615184" cy="6675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Match data, registry and dated pool</a:t>
            </a:r>
          </a:p>
        </p:txBody>
      </p:sp>
      <p:sp>
        <p:nvSpPr>
          <p:cNvPr id="29" name="Rectangle 28"/>
          <p:cNvSpPr/>
          <p:nvPr/>
        </p:nvSpPr>
        <p:spPr>
          <a:xfrm>
            <a:off x="11064240" y="5166360"/>
            <a:ext cx="2926080" cy="13258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1219688" y="53400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Optional DeepSeek</a:t>
            </a:r>
          </a:p>
        </p:txBody>
      </p:sp>
      <p:sp>
        <p:nvSpPr>
          <p:cNvPr id="31" name="TextBox 30"/>
          <p:cNvSpPr txBox="1"/>
          <p:nvPr/>
        </p:nvSpPr>
        <p:spPr>
          <a:xfrm>
            <a:off x="11219688" y="5806440"/>
            <a:ext cx="2615184" cy="6675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Existing fact IDs + approved actions</a:t>
            </a:r>
          </a:p>
        </p:txBody>
      </p:sp>
      <p:sp>
        <p:nvSpPr>
          <p:cNvPr id="32" name="Up Arrow 31"/>
          <p:cNvSpPr/>
          <p:nvPr/>
        </p:nvSpPr>
        <p:spPr>
          <a:xfrm>
            <a:off x="8887968" y="4425696"/>
            <a:ext cx="292608" cy="502920"/>
          </a:xfrm>
          <a:prstGeom prst="up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Up Arrow 32"/>
          <p:cNvSpPr/>
          <p:nvPr/>
        </p:nvSpPr>
        <p:spPr>
          <a:xfrm>
            <a:off x="12362688" y="4425696"/>
            <a:ext cx="292608" cy="502920"/>
          </a:xfrm>
          <a:prstGeom prst="up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ight Arrow 33"/>
          <p:cNvSpPr/>
          <p:nvPr/>
        </p:nvSpPr>
        <p:spPr>
          <a:xfrm rot="2700000">
            <a:off x="10607040" y="4498848"/>
            <a:ext cx="365760" cy="32004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573768" y="4590288"/>
            <a:ext cx="1005840" cy="228600"/>
          </a:xfrm>
          <a:prstGeom prst="rect">
            <a:avLst/>
          </a:prstGeom>
          <a:noFill/>
        </p:spPr>
        <p:txBody>
          <a:bodyPr wrap="square" lIns="0" rIns="0" tIns="0" bIns="0">
            <a:spAutoFit/>
          </a:bodyPr>
          <a:lstStyle/>
          <a:p>
            <a:pPr algn="l">
              <a:lnSpc>
                <a:spcPct val="112000"/>
              </a:lnSpc>
              <a:spcAft>
                <a:spcPts val="600"/>
              </a:spcAft>
              <a:defRPr sz="1100" b="0">
                <a:solidFill>
                  <a:srgbClr val="596B72"/>
                </a:solidFill>
                <a:latin typeface="Liberation Sans"/>
              </a:defRPr>
            </a:pPr>
            <a:r>
              <a:t>Fact IDs</a:t>
            </a:r>
          </a:p>
        </p:txBody>
      </p:sp>
      <p:sp>
        <p:nvSpPr>
          <p:cNvPr id="36" name="Rectangle 35"/>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Outputs: scoped brief, private journal and decision pack with source fingerprints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03 / AI AGENT WORKFLOW</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Question → evidence → check → human review.</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09 / 44</a:t>
            </a:r>
          </a:p>
        </p:txBody>
      </p:sp>
      <p:sp>
        <p:nvSpPr>
          <p:cNvPr id="8" name="TextBox 7"/>
          <p:cNvSpPr txBox="1"/>
          <p:nvPr/>
        </p:nvSpPr>
        <p:spPr>
          <a:xfrm>
            <a:off x="640080"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01</a:t>
            </a:r>
          </a:p>
        </p:txBody>
      </p:sp>
      <p:sp>
        <p:nvSpPr>
          <p:cNvPr id="9" name="Rectangle 8"/>
          <p:cNvSpPr/>
          <p:nvPr/>
        </p:nvSpPr>
        <p:spPr>
          <a:xfrm>
            <a:off x="640080"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95528"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Confirm</a:t>
            </a:r>
          </a:p>
        </p:txBody>
      </p:sp>
      <p:sp>
        <p:nvSpPr>
          <p:cNvPr id="11" name="TextBox 10"/>
          <p:cNvSpPr txBox="1"/>
          <p:nvPr/>
        </p:nvSpPr>
        <p:spPr>
          <a:xfrm>
            <a:off x="795528"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Task, identity, scope</a:t>
            </a:r>
          </a:p>
        </p:txBody>
      </p:sp>
      <p:sp>
        <p:nvSpPr>
          <p:cNvPr id="12" name="Right Arrow 11"/>
          <p:cNvSpPr/>
          <p:nvPr/>
        </p:nvSpPr>
        <p:spPr>
          <a:xfrm>
            <a:off x="3118104"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364991"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02</a:t>
            </a:r>
          </a:p>
        </p:txBody>
      </p:sp>
      <p:sp>
        <p:nvSpPr>
          <p:cNvPr id="14" name="Rectangle 13"/>
          <p:cNvSpPr/>
          <p:nvPr/>
        </p:nvSpPr>
        <p:spPr>
          <a:xfrm>
            <a:off x="3364991"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20439"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Retrieve</a:t>
            </a:r>
          </a:p>
        </p:txBody>
      </p:sp>
      <p:sp>
        <p:nvSpPr>
          <p:cNvPr id="16" name="TextBox 15"/>
          <p:cNvSpPr txBox="1"/>
          <p:nvPr/>
        </p:nvSpPr>
        <p:spPr>
          <a:xfrm>
            <a:off x="3520439"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One permitted tool</a:t>
            </a:r>
          </a:p>
        </p:txBody>
      </p:sp>
      <p:sp>
        <p:nvSpPr>
          <p:cNvPr id="17" name="Right Arrow 16"/>
          <p:cNvSpPr/>
          <p:nvPr/>
        </p:nvSpPr>
        <p:spPr>
          <a:xfrm>
            <a:off x="5843016"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089904"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03</a:t>
            </a:r>
          </a:p>
        </p:txBody>
      </p:sp>
      <p:sp>
        <p:nvSpPr>
          <p:cNvPr id="19" name="Rectangle 18"/>
          <p:cNvSpPr/>
          <p:nvPr/>
        </p:nvSpPr>
        <p:spPr>
          <a:xfrm>
            <a:off x="6089904"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45352"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Calculate</a:t>
            </a:r>
          </a:p>
        </p:txBody>
      </p:sp>
      <p:sp>
        <p:nvSpPr>
          <p:cNvPr id="21" name="TextBox 20"/>
          <p:cNvSpPr txBox="1"/>
          <p:nvPr/>
        </p:nvSpPr>
        <p:spPr>
          <a:xfrm>
            <a:off x="6245352"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Rates, scores or XI</a:t>
            </a:r>
          </a:p>
        </p:txBody>
      </p:sp>
      <p:sp>
        <p:nvSpPr>
          <p:cNvPr id="22" name="Right Arrow 21"/>
          <p:cNvSpPr/>
          <p:nvPr/>
        </p:nvSpPr>
        <p:spPr>
          <a:xfrm>
            <a:off x="8567928"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814815"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04</a:t>
            </a:r>
          </a:p>
        </p:txBody>
      </p:sp>
      <p:sp>
        <p:nvSpPr>
          <p:cNvPr id="24" name="Rectangle 23"/>
          <p:cNvSpPr/>
          <p:nvPr/>
        </p:nvSpPr>
        <p:spPr>
          <a:xfrm>
            <a:off x="8814815"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970263"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Check</a:t>
            </a:r>
          </a:p>
        </p:txBody>
      </p:sp>
      <p:sp>
        <p:nvSpPr>
          <p:cNvPr id="26" name="TextBox 25"/>
          <p:cNvSpPr txBox="1"/>
          <p:nvPr/>
        </p:nvSpPr>
        <p:spPr>
          <a:xfrm>
            <a:off x="8970263"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Rules and fact IDs</a:t>
            </a:r>
          </a:p>
        </p:txBody>
      </p:sp>
      <p:sp>
        <p:nvSpPr>
          <p:cNvPr id="27" name="Right Arrow 26"/>
          <p:cNvSpPr/>
          <p:nvPr/>
        </p:nvSpPr>
        <p:spPr>
          <a:xfrm>
            <a:off x="11292839"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1539728"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05</a:t>
            </a:r>
          </a:p>
        </p:txBody>
      </p:sp>
      <p:sp>
        <p:nvSpPr>
          <p:cNvPr id="29" name="Rectangle 28"/>
          <p:cNvSpPr/>
          <p:nvPr/>
        </p:nvSpPr>
        <p:spPr>
          <a:xfrm>
            <a:off x="11539728"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1695176"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Review</a:t>
            </a:r>
          </a:p>
        </p:txBody>
      </p:sp>
      <p:sp>
        <p:nvSpPr>
          <p:cNvPr id="31" name="TextBox 30"/>
          <p:cNvSpPr txBox="1"/>
          <p:nvPr/>
        </p:nvSpPr>
        <p:spPr>
          <a:xfrm>
            <a:off x="11695176"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Brief, sources, export</a:t>
            </a:r>
          </a:p>
        </p:txBody>
      </p:sp>
      <p:sp>
        <p:nvSpPr>
          <p:cNvPr id="32" name="Rectangle 3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A conflicting request asks for clarification before calculation.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03 / DEEPSEEK</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narrow model role is a deliberate design choice.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10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DeepSeek can</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Select useful supplied fact IDs such as F1 and F2.</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Choose approved next actions.</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Return a small validated JSON object.</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The server controls</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Tools, filters, calculations and source facts.</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All eleven XI facts and the full over schedule.</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Fallback to checked local evidence.</a:t>
            </a:r>
          </a:p>
        </p:txBody>
      </p:sp>
      <p:sp>
        <p:nvSpPr>
          <p:cNvPr id="22" name="Rectangle 2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No key is needed for Local evidence mode.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HOME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Orientation before analysis.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11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home.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WORKFLOW</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A visible path from question to review.</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GUIDED EXAMPLES</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RCB scouting and MI without Bumrah.</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COVERAGE</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Source endpoints and project downloads.</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v3.1.0 · Local evidence mode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DECISION DESK</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Prepare a brief with its evidence attached.</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12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brief.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CONFIRM</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Task, player IDs, question and controls agree.</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INSPECT</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Each fact has a record and evidence trace.</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PRESERVE</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Save privately or download a decision pack.</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v3.1.0 · Local evidence mode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SCOUTING</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Read the raw rate beside the score.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13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scouting.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CONTROL</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Competition, discipline, phase, dates and balls.</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COMPARE</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Up to three registry-linked identities.</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INTERPRET</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Recency, shrinkage and observed-rate intervals.</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v3.1.0 · Local evidence mode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PLAYER DOSSIER</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scope is part of every statistic.</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14 / 44</a:t>
            </a:r>
          </a:p>
        </p:txBody>
      </p:sp>
      <p:sp>
        <p:nvSpPr>
          <p:cNvPr id="8" name="TextBox 7"/>
          <p:cNvSpPr txBox="1"/>
          <p:nvPr/>
        </p:nvSpPr>
        <p:spPr>
          <a:xfrm>
            <a:off x="640080" y="2468880"/>
            <a:ext cx="4206240" cy="914400"/>
          </a:xfrm>
          <a:prstGeom prst="rect">
            <a:avLst/>
          </a:prstGeom>
          <a:noFill/>
        </p:spPr>
        <p:txBody>
          <a:bodyPr wrap="square" lIns="0" rIns="0" tIns="0" bIns="0">
            <a:spAutoFit/>
          </a:bodyPr>
          <a:lstStyle/>
          <a:p>
            <a:pPr algn="l">
              <a:lnSpc>
                <a:spcPct val="112000"/>
              </a:lnSpc>
              <a:spcAft>
                <a:spcPts val="600"/>
              </a:spcAft>
              <a:defRPr sz="4700" b="0">
                <a:solidFill>
                  <a:srgbClr val="176B55"/>
                </a:solidFill>
                <a:latin typeface="Liberation Serif"/>
              </a:defRPr>
            </a:pPr>
            <a:r>
              <a:t>114</a:t>
            </a:r>
          </a:p>
        </p:txBody>
      </p:sp>
      <p:sp>
        <p:nvSpPr>
          <p:cNvPr id="9" name="TextBox 8"/>
          <p:cNvSpPr txBox="1"/>
          <p:nvPr/>
        </p:nvSpPr>
        <p:spPr>
          <a:xfrm>
            <a:off x="640080" y="3566160"/>
            <a:ext cx="4206240"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Death-phase runs</a:t>
            </a:r>
          </a:p>
        </p:txBody>
      </p:sp>
      <p:sp>
        <p:nvSpPr>
          <p:cNvPr id="10" name="TextBox 9"/>
          <p:cNvSpPr txBox="1"/>
          <p:nvPr/>
        </p:nvSpPr>
        <p:spPr>
          <a:xfrm>
            <a:off x="640080" y="4206240"/>
            <a:ext cx="4206240" cy="640080"/>
          </a:xfrm>
          <a:prstGeom prst="rect">
            <a:avLst/>
          </a:prstGeom>
          <a:noFill/>
        </p:spPr>
        <p:txBody>
          <a:bodyPr wrap="square" lIns="0" rIns="0" tIns="0" bIns="0">
            <a:spAutoFit/>
          </a:bodyPr>
          <a:lstStyle/>
          <a:p>
            <a:pPr algn="l">
              <a:lnSpc>
                <a:spcPct val="112000"/>
              </a:lnSpc>
              <a:spcAft>
                <a:spcPts val="600"/>
              </a:spcAft>
              <a:defRPr sz="1400" b="0">
                <a:solidFill>
                  <a:srgbClr val="596B72"/>
                </a:solidFill>
                <a:latin typeface="Liberation Sans"/>
              </a:defRPr>
            </a:pPr>
            <a:r>
              <a:t>2023-10-18 to before 2026-10-18</a:t>
            </a:r>
          </a:p>
        </p:txBody>
      </p:sp>
      <p:sp>
        <p:nvSpPr>
          <p:cNvPr id="11" name="TextBox 10"/>
          <p:cNvSpPr txBox="1"/>
          <p:nvPr/>
        </p:nvSpPr>
        <p:spPr>
          <a:xfrm>
            <a:off x="5257800" y="2468880"/>
            <a:ext cx="4206240" cy="914400"/>
          </a:xfrm>
          <a:prstGeom prst="rect">
            <a:avLst/>
          </a:prstGeom>
          <a:noFill/>
        </p:spPr>
        <p:txBody>
          <a:bodyPr wrap="square" lIns="0" rIns="0" tIns="0" bIns="0">
            <a:spAutoFit/>
          </a:bodyPr>
          <a:lstStyle/>
          <a:p>
            <a:pPr algn="l">
              <a:lnSpc>
                <a:spcPct val="112000"/>
              </a:lnSpc>
              <a:spcAft>
                <a:spcPts val="600"/>
              </a:spcAft>
              <a:defRPr sz="4700" b="0">
                <a:solidFill>
                  <a:srgbClr val="176B55"/>
                </a:solidFill>
                <a:latin typeface="Liberation Serif"/>
              </a:defRPr>
            </a:pPr>
            <a:r>
              <a:t>2,073</a:t>
            </a:r>
          </a:p>
        </p:txBody>
      </p:sp>
      <p:sp>
        <p:nvSpPr>
          <p:cNvPr id="12" name="TextBox 11"/>
          <p:cNvSpPr txBox="1"/>
          <p:nvPr/>
        </p:nvSpPr>
        <p:spPr>
          <a:xfrm>
            <a:off x="5257800" y="3566160"/>
            <a:ext cx="4206240"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All phases, same window</a:t>
            </a:r>
          </a:p>
        </p:txBody>
      </p:sp>
      <p:sp>
        <p:nvSpPr>
          <p:cNvPr id="13" name="TextBox 12"/>
          <p:cNvSpPr txBox="1"/>
          <p:nvPr/>
        </p:nvSpPr>
        <p:spPr>
          <a:xfrm>
            <a:off x="5257800" y="4206240"/>
            <a:ext cx="4206240" cy="640080"/>
          </a:xfrm>
          <a:prstGeom prst="rect">
            <a:avLst/>
          </a:prstGeom>
          <a:noFill/>
        </p:spPr>
        <p:txBody>
          <a:bodyPr wrap="square" lIns="0" rIns="0" tIns="0" bIns="0">
            <a:spAutoFit/>
          </a:bodyPr>
          <a:lstStyle/>
          <a:p>
            <a:pPr algn="l">
              <a:lnSpc>
                <a:spcPct val="112000"/>
              </a:lnSpc>
              <a:spcAft>
                <a:spcPts val="600"/>
              </a:spcAft>
              <a:defRPr sz="1400" b="0">
                <a:solidFill>
                  <a:srgbClr val="596B72"/>
                </a:solidFill>
                <a:latin typeface="Liberation Sans"/>
              </a:defRPr>
            </a:pPr>
            <a:r>
              <a:t>2023-10-18 to before 2026-10-18</a:t>
            </a:r>
          </a:p>
        </p:txBody>
      </p:sp>
      <p:sp>
        <p:nvSpPr>
          <p:cNvPr id="14" name="TextBox 13"/>
          <p:cNvSpPr txBox="1"/>
          <p:nvPr/>
        </p:nvSpPr>
        <p:spPr>
          <a:xfrm>
            <a:off x="9875519" y="2468880"/>
            <a:ext cx="4206240" cy="914400"/>
          </a:xfrm>
          <a:prstGeom prst="rect">
            <a:avLst/>
          </a:prstGeom>
          <a:noFill/>
        </p:spPr>
        <p:txBody>
          <a:bodyPr wrap="square" lIns="0" rIns="0" tIns="0" bIns="0">
            <a:spAutoFit/>
          </a:bodyPr>
          <a:lstStyle/>
          <a:p>
            <a:pPr algn="l">
              <a:lnSpc>
                <a:spcPct val="112000"/>
              </a:lnSpc>
              <a:spcAft>
                <a:spcPts val="600"/>
              </a:spcAft>
              <a:defRPr sz="4700" b="0">
                <a:solidFill>
                  <a:srgbClr val="176B55"/>
                </a:solidFill>
                <a:latin typeface="Liberation Serif"/>
              </a:defRPr>
            </a:pPr>
            <a:r>
              <a:t>9,336</a:t>
            </a:r>
          </a:p>
        </p:txBody>
      </p:sp>
      <p:sp>
        <p:nvSpPr>
          <p:cNvPr id="15" name="TextBox 14"/>
          <p:cNvSpPr txBox="1"/>
          <p:nvPr/>
        </p:nvSpPr>
        <p:spPr>
          <a:xfrm>
            <a:off x="9875519" y="3566160"/>
            <a:ext cx="4206240"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All supplied IPL records</a:t>
            </a:r>
          </a:p>
        </p:txBody>
      </p:sp>
      <p:sp>
        <p:nvSpPr>
          <p:cNvPr id="16" name="TextBox 15"/>
          <p:cNvSpPr txBox="1"/>
          <p:nvPr/>
        </p:nvSpPr>
        <p:spPr>
          <a:xfrm>
            <a:off x="9875519" y="4206240"/>
            <a:ext cx="4206240" cy="640080"/>
          </a:xfrm>
          <a:prstGeom prst="rect">
            <a:avLst/>
          </a:prstGeom>
          <a:noFill/>
        </p:spPr>
        <p:txBody>
          <a:bodyPr wrap="square" lIns="0" rIns="0" tIns="0" bIns="0">
            <a:spAutoFit/>
          </a:bodyPr>
          <a:lstStyle/>
          <a:p>
            <a:pPr algn="l">
              <a:lnSpc>
                <a:spcPct val="112000"/>
              </a:lnSpc>
              <a:spcAft>
                <a:spcPts val="600"/>
              </a:spcAft>
              <a:defRPr sz="1400" b="0">
                <a:solidFill>
                  <a:srgbClr val="596B72"/>
                </a:solidFill>
                <a:latin typeface="Liberation Sans"/>
              </a:defRPr>
            </a:pPr>
            <a:r>
              <a:t>Archive through 2026-05-31</a:t>
            </a:r>
          </a:p>
        </p:txBody>
      </p:sp>
      <p:sp>
        <p:nvSpPr>
          <p:cNvPr id="17" name="Rectangle 16"/>
          <p:cNvSpPr/>
          <p:nvPr/>
        </p:nvSpPr>
        <p:spPr>
          <a:xfrm>
            <a:off x="640080" y="525780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86384" y="5385816"/>
            <a:ext cx="4194047" cy="292608"/>
          </a:xfrm>
          <a:prstGeom prst="rect">
            <a:avLst/>
          </a:prstGeom>
          <a:noFill/>
        </p:spPr>
        <p:txBody>
          <a:bodyPr wrap="square" lIns="0" rIns="0" tIns="0" bIns="0">
            <a:spAutoFit/>
          </a:bodyPr>
          <a:lstStyle/>
          <a:p>
            <a:pPr algn="l">
              <a:lnSpc>
                <a:spcPct val="112000"/>
              </a:lnSpc>
              <a:spcAft>
                <a:spcPts val="600"/>
              </a:spcAft>
              <a:defRPr sz="2000" b="1">
                <a:solidFill>
                  <a:srgbClr val="FFFFFF"/>
                </a:solidFill>
                <a:latin typeface="Liberation Sans"/>
              </a:defRPr>
            </a:pPr>
            <a:r>
              <a:t>2024 IPL</a:t>
            </a:r>
          </a:p>
        </p:txBody>
      </p:sp>
      <p:sp>
        <p:nvSpPr>
          <p:cNvPr id="19" name="TextBox 18"/>
          <p:cNvSpPr txBox="1"/>
          <p:nvPr/>
        </p:nvSpPr>
        <p:spPr>
          <a:xfrm>
            <a:off x="5236464" y="5385816"/>
            <a:ext cx="4194047" cy="292608"/>
          </a:xfrm>
          <a:prstGeom prst="rect">
            <a:avLst/>
          </a:prstGeom>
          <a:noFill/>
        </p:spPr>
        <p:txBody>
          <a:bodyPr wrap="square" lIns="0" rIns="0" tIns="0" bIns="0">
            <a:spAutoFit/>
          </a:bodyPr>
          <a:lstStyle/>
          <a:p>
            <a:pPr algn="l">
              <a:lnSpc>
                <a:spcPct val="112000"/>
              </a:lnSpc>
              <a:spcAft>
                <a:spcPts val="600"/>
              </a:spcAft>
              <a:defRPr sz="2000" b="1">
                <a:solidFill>
                  <a:srgbClr val="FFFFFF"/>
                </a:solidFill>
                <a:latin typeface="Liberation Sans"/>
              </a:defRPr>
            </a:pPr>
            <a:r>
              <a:t>2025 IPL</a:t>
            </a:r>
          </a:p>
        </p:txBody>
      </p:sp>
      <p:sp>
        <p:nvSpPr>
          <p:cNvPr id="20" name="TextBox 19"/>
          <p:cNvSpPr txBox="1"/>
          <p:nvPr/>
        </p:nvSpPr>
        <p:spPr>
          <a:xfrm>
            <a:off x="9686544" y="5385816"/>
            <a:ext cx="4194047" cy="292608"/>
          </a:xfrm>
          <a:prstGeom prst="rect">
            <a:avLst/>
          </a:prstGeom>
          <a:noFill/>
        </p:spPr>
        <p:txBody>
          <a:bodyPr wrap="square" lIns="0" rIns="0" tIns="0" bIns="0">
            <a:spAutoFit/>
          </a:bodyPr>
          <a:lstStyle/>
          <a:p>
            <a:pPr algn="l">
              <a:lnSpc>
                <a:spcPct val="112000"/>
              </a:lnSpc>
              <a:spcAft>
                <a:spcPts val="600"/>
              </a:spcAft>
              <a:defRPr sz="2000" b="1">
                <a:solidFill>
                  <a:srgbClr val="FFFFFF"/>
                </a:solidFill>
                <a:latin typeface="Liberation Sans"/>
              </a:defRPr>
            </a:pPr>
            <a:r>
              <a:t>2026 IPL</a:t>
            </a:r>
          </a:p>
        </p:txBody>
      </p:sp>
      <p:sp>
        <p:nvSpPr>
          <p:cNvPr id="21" name="Rectangle 20"/>
          <p:cNvSpPr/>
          <p:nvPr/>
        </p:nvSpPr>
        <p:spPr>
          <a:xfrm>
            <a:off x="640080" y="5788152"/>
            <a:ext cx="1335024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86384" y="5916168"/>
            <a:ext cx="4194047" cy="59436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741 runs</a:t>
            </a:r>
          </a:p>
        </p:txBody>
      </p:sp>
      <p:sp>
        <p:nvSpPr>
          <p:cNvPr id="23" name="TextBox 22"/>
          <p:cNvSpPr txBox="1"/>
          <p:nvPr/>
        </p:nvSpPr>
        <p:spPr>
          <a:xfrm>
            <a:off x="5236464" y="5916168"/>
            <a:ext cx="4194047" cy="59436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657 runs</a:t>
            </a:r>
          </a:p>
        </p:txBody>
      </p:sp>
      <p:sp>
        <p:nvSpPr>
          <p:cNvPr id="24" name="TextBox 23"/>
          <p:cNvSpPr txBox="1"/>
          <p:nvPr/>
        </p:nvSpPr>
        <p:spPr>
          <a:xfrm>
            <a:off x="9686544" y="5916168"/>
            <a:ext cx="4194047" cy="59436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675 runs</a:t>
            </a:r>
          </a:p>
        </p:txBody>
      </p:sp>
      <p:sp>
        <p:nvSpPr>
          <p:cNvPr id="25" name="Rectangle 24"/>
          <p:cNvSpPr/>
          <p:nvPr/>
        </p:nvSpPr>
        <p:spPr>
          <a:xfrm>
            <a:off x="640080" y="65196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Player overview and scoped research views label these different meanings explicitly.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IDENTITIES &amp; TIME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Names help search. IDs identify people.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15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Identity</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Three registry IDs share “Rohit Sharma”.</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Ambiguous names require an explicit choice.</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Observed teams and competitions help confirmation.</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Time</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Only matches strictly before the cutoff count.</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The same window is used for fair comparisons.</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Historical XI pools outside 2026 are unsupported.</a:t>
            </a:r>
          </a:p>
        </p:txBody>
      </p:sp>
      <p:sp>
        <p:nvSpPr>
          <p:cNvPr id="22" name="Rectangle 2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A missing identity or match cannot borrow somebody else’s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XI OPTIMIZATION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Selection and the twenty overs are solved together.</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16 / 44</a:t>
            </a:r>
          </a:p>
        </p:txBody>
      </p:sp>
      <p:sp>
        <p:nvSpPr>
          <p:cNvPr id="8" name="TextBox 7"/>
          <p:cNvSpPr txBox="1"/>
          <p:nvPr/>
        </p:nvSpPr>
        <p:spPr>
          <a:xfrm>
            <a:off x="640080" y="2423160"/>
            <a:ext cx="3108960" cy="914400"/>
          </a:xfrm>
          <a:prstGeom prst="rect">
            <a:avLst/>
          </a:prstGeom>
          <a:noFill/>
        </p:spPr>
        <p:txBody>
          <a:bodyPr wrap="square" lIns="0" rIns="0" tIns="0" bIns="0">
            <a:spAutoFit/>
          </a:bodyPr>
          <a:lstStyle/>
          <a:p>
            <a:pPr algn="l">
              <a:lnSpc>
                <a:spcPct val="112000"/>
              </a:lnSpc>
              <a:spcAft>
                <a:spcPts val="600"/>
              </a:spcAft>
              <a:defRPr sz="4800" b="0">
                <a:solidFill>
                  <a:srgbClr val="176B55"/>
                </a:solidFill>
                <a:latin typeface="Liberation Serif"/>
              </a:defRPr>
            </a:pPr>
            <a:r>
              <a:t>11</a:t>
            </a:r>
          </a:p>
        </p:txBody>
      </p:sp>
      <p:sp>
        <p:nvSpPr>
          <p:cNvPr id="9" name="TextBox 8"/>
          <p:cNvSpPr txBox="1"/>
          <p:nvPr/>
        </p:nvSpPr>
        <p:spPr>
          <a:xfrm>
            <a:off x="640080" y="3520440"/>
            <a:ext cx="3063240" cy="73152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Distinct selected players</a:t>
            </a:r>
          </a:p>
        </p:txBody>
      </p:sp>
      <p:sp>
        <p:nvSpPr>
          <p:cNvPr id="10" name="TextBox 9"/>
          <p:cNvSpPr txBox="1"/>
          <p:nvPr/>
        </p:nvSpPr>
        <p:spPr>
          <a:xfrm>
            <a:off x="4069080" y="2423160"/>
            <a:ext cx="3108960" cy="914400"/>
          </a:xfrm>
          <a:prstGeom prst="rect">
            <a:avLst/>
          </a:prstGeom>
          <a:noFill/>
        </p:spPr>
        <p:txBody>
          <a:bodyPr wrap="square" lIns="0" rIns="0" tIns="0" bIns="0">
            <a:spAutoFit/>
          </a:bodyPr>
          <a:lstStyle/>
          <a:p>
            <a:pPr algn="l">
              <a:lnSpc>
                <a:spcPct val="112000"/>
              </a:lnSpc>
              <a:spcAft>
                <a:spcPts val="600"/>
              </a:spcAft>
              <a:defRPr sz="4800" b="0">
                <a:solidFill>
                  <a:srgbClr val="176B55"/>
                </a:solidFill>
                <a:latin typeface="Liberation Serif"/>
              </a:defRPr>
            </a:pPr>
            <a:r>
              <a:t>20</a:t>
            </a:r>
          </a:p>
        </p:txBody>
      </p:sp>
      <p:sp>
        <p:nvSpPr>
          <p:cNvPr id="11" name="TextBox 10"/>
          <p:cNvSpPr txBox="1"/>
          <p:nvPr/>
        </p:nvSpPr>
        <p:spPr>
          <a:xfrm>
            <a:off x="4069080" y="3520440"/>
            <a:ext cx="3063240" cy="73152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Overs assigned</a:t>
            </a:r>
          </a:p>
        </p:txBody>
      </p:sp>
      <p:sp>
        <p:nvSpPr>
          <p:cNvPr id="12" name="TextBox 11"/>
          <p:cNvSpPr txBox="1"/>
          <p:nvPr/>
        </p:nvSpPr>
        <p:spPr>
          <a:xfrm>
            <a:off x="7498079" y="2423160"/>
            <a:ext cx="3108960" cy="914400"/>
          </a:xfrm>
          <a:prstGeom prst="rect">
            <a:avLst/>
          </a:prstGeom>
          <a:noFill/>
        </p:spPr>
        <p:txBody>
          <a:bodyPr wrap="square" lIns="0" rIns="0" tIns="0" bIns="0">
            <a:spAutoFit/>
          </a:bodyPr>
          <a:lstStyle/>
          <a:p>
            <a:pPr algn="l">
              <a:lnSpc>
                <a:spcPct val="112000"/>
              </a:lnSpc>
              <a:spcAft>
                <a:spcPts val="600"/>
              </a:spcAft>
              <a:defRPr sz="4800" b="0">
                <a:solidFill>
                  <a:srgbClr val="176B55"/>
                </a:solidFill>
                <a:latin typeface="Liberation Serif"/>
              </a:defRPr>
            </a:pPr>
            <a:r>
              <a:t>4</a:t>
            </a:r>
          </a:p>
        </p:txBody>
      </p:sp>
      <p:sp>
        <p:nvSpPr>
          <p:cNvPr id="13" name="TextBox 12"/>
          <p:cNvSpPr txBox="1"/>
          <p:nvPr/>
        </p:nvSpPr>
        <p:spPr>
          <a:xfrm>
            <a:off x="7498079" y="3520440"/>
            <a:ext cx="3063240" cy="73152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Maximum overseas</a:t>
            </a:r>
          </a:p>
        </p:txBody>
      </p:sp>
      <p:sp>
        <p:nvSpPr>
          <p:cNvPr id="14" name="TextBox 13"/>
          <p:cNvSpPr txBox="1"/>
          <p:nvPr/>
        </p:nvSpPr>
        <p:spPr>
          <a:xfrm>
            <a:off x="10927080" y="2423160"/>
            <a:ext cx="3108960" cy="914400"/>
          </a:xfrm>
          <a:prstGeom prst="rect">
            <a:avLst/>
          </a:prstGeom>
          <a:noFill/>
        </p:spPr>
        <p:txBody>
          <a:bodyPr wrap="square" lIns="0" rIns="0" tIns="0" bIns="0">
            <a:spAutoFit/>
          </a:bodyPr>
          <a:lstStyle/>
          <a:p>
            <a:pPr algn="l">
              <a:lnSpc>
                <a:spcPct val="112000"/>
              </a:lnSpc>
              <a:spcAft>
                <a:spcPts val="600"/>
              </a:spcAft>
              <a:defRPr sz="4800" b="0">
                <a:solidFill>
                  <a:srgbClr val="176B55"/>
                </a:solidFill>
                <a:latin typeface="Liberation Serif"/>
              </a:defRPr>
            </a:pPr>
            <a:r>
              <a:t>4</a:t>
            </a:r>
          </a:p>
        </p:txBody>
      </p:sp>
      <p:sp>
        <p:nvSpPr>
          <p:cNvPr id="15" name="TextBox 14"/>
          <p:cNvSpPr txBox="1"/>
          <p:nvPr/>
        </p:nvSpPr>
        <p:spPr>
          <a:xfrm>
            <a:off x="10927080" y="3520440"/>
            <a:ext cx="3063240" cy="73152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Maximum overs / bowler</a:t>
            </a:r>
          </a:p>
        </p:txBody>
      </p:sp>
      <p:sp>
        <p:nvSpPr>
          <p:cNvPr id="16" name="TextBox 15"/>
          <p:cNvSpPr txBox="1"/>
          <p:nvPr/>
        </p:nvSpPr>
        <p:spPr>
          <a:xfrm>
            <a:off x="640080" y="4617720"/>
            <a:ext cx="228600" cy="365760"/>
          </a:xfrm>
          <a:prstGeom prst="rect">
            <a:avLst/>
          </a:prstGeom>
          <a:noFill/>
        </p:spPr>
        <p:txBody>
          <a:bodyPr wrap="square" lIns="0" rIns="0" tIns="0" bIns="0">
            <a:spAutoFit/>
          </a:bodyPr>
          <a:lstStyle/>
          <a:p>
            <a:pPr algn="l">
              <a:lnSpc>
                <a:spcPct val="112000"/>
              </a:lnSpc>
              <a:spcAft>
                <a:spcPts val="600"/>
              </a:spcAft>
              <a:defRPr sz="1900" b="0">
                <a:solidFill>
                  <a:srgbClr val="176B55"/>
                </a:solidFill>
                <a:latin typeface="Liberation Sans"/>
              </a:defRPr>
            </a:pPr>
            <a:r>
              <a:t>•</a:t>
            </a:r>
          </a:p>
        </p:txBody>
      </p:sp>
      <p:sp>
        <p:nvSpPr>
          <p:cNvPr id="17" name="TextBox 16"/>
          <p:cNvSpPr txBox="1"/>
          <p:nvPr/>
        </p:nvSpPr>
        <p:spPr>
          <a:xfrm>
            <a:off x="950976" y="4617720"/>
            <a:ext cx="12947904" cy="86868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At least one keeper; active role minima and all locks/exclusions.</a:t>
            </a:r>
          </a:p>
        </p:txBody>
      </p:sp>
      <p:sp>
        <p:nvSpPr>
          <p:cNvPr id="18" name="TextBox 17"/>
          <p:cNvSpPr txBox="1"/>
          <p:nvPr/>
        </p:nvSpPr>
        <p:spPr>
          <a:xfrm>
            <a:off x="640080" y="5623560"/>
            <a:ext cx="228600" cy="365760"/>
          </a:xfrm>
          <a:prstGeom prst="rect">
            <a:avLst/>
          </a:prstGeom>
          <a:noFill/>
        </p:spPr>
        <p:txBody>
          <a:bodyPr wrap="square" lIns="0" rIns="0" tIns="0" bIns="0">
            <a:spAutoFit/>
          </a:bodyPr>
          <a:lstStyle/>
          <a:p>
            <a:pPr algn="l">
              <a:lnSpc>
                <a:spcPct val="112000"/>
              </a:lnSpc>
              <a:spcAft>
                <a:spcPts val="600"/>
              </a:spcAft>
              <a:defRPr sz="1900" b="0">
                <a:solidFill>
                  <a:srgbClr val="176B55"/>
                </a:solidFill>
                <a:latin typeface="Liberation Sans"/>
              </a:defRPr>
            </a:pPr>
            <a:r>
              <a:t>•</a:t>
            </a:r>
          </a:p>
        </p:txBody>
      </p:sp>
      <p:sp>
        <p:nvSpPr>
          <p:cNvPr id="19" name="TextBox 18"/>
          <p:cNvSpPr txBox="1"/>
          <p:nvPr/>
        </p:nvSpPr>
        <p:spPr>
          <a:xfrm>
            <a:off x="950976" y="5623560"/>
            <a:ext cx="12947904" cy="86868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No consecutive overs by one bowler; total and phase workload caps.</a:t>
            </a:r>
          </a:p>
        </p:txBody>
      </p:sp>
      <p:sp>
        <p:nvSpPr>
          <p:cNvPr id="20" name="TextBox 19"/>
          <p:cNvSpPr txBox="1"/>
          <p:nvPr/>
        </p:nvSpPr>
        <p:spPr>
          <a:xfrm>
            <a:off x="640080" y="6629400"/>
            <a:ext cx="228600" cy="365760"/>
          </a:xfrm>
          <a:prstGeom prst="rect">
            <a:avLst/>
          </a:prstGeom>
          <a:noFill/>
        </p:spPr>
        <p:txBody>
          <a:bodyPr wrap="square" lIns="0" rIns="0" tIns="0" bIns="0">
            <a:spAutoFit/>
          </a:bodyPr>
          <a:lstStyle/>
          <a:p>
            <a:pPr algn="l">
              <a:lnSpc>
                <a:spcPct val="112000"/>
              </a:lnSpc>
              <a:spcAft>
                <a:spcPts val="600"/>
              </a:spcAft>
              <a:defRPr sz="1900" b="0">
                <a:solidFill>
                  <a:srgbClr val="176B55"/>
                </a:solidFill>
                <a:latin typeface="Liberation Sans"/>
              </a:defRPr>
            </a:pPr>
            <a:r>
              <a:t>•</a:t>
            </a:r>
          </a:p>
        </p:txBody>
      </p:sp>
      <p:sp>
        <p:nvSpPr>
          <p:cNvPr id="21" name="TextBox 20"/>
          <p:cNvSpPr txBox="1"/>
          <p:nvPr/>
        </p:nvSpPr>
        <p:spPr>
          <a:xfrm>
            <a:off x="950976" y="6629400"/>
            <a:ext cx="12947904" cy="86868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Optional assumed budget; independent validation before display.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OVER-BY-OVER PLAN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real scenario: MI without Jasprit Bumrah.</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17 / 44</a:t>
            </a:r>
          </a:p>
        </p:txBody>
      </p:sp>
      <p:sp>
        <p:nvSpPr>
          <p:cNvPr id="8" name="TextBox 7"/>
          <p:cNvSpPr txBox="1"/>
          <p:nvPr/>
        </p:nvSpPr>
        <p:spPr>
          <a:xfrm>
            <a:off x="640080" y="2377440"/>
            <a:ext cx="384048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POWERPLAY  /  1–6</a:t>
            </a:r>
          </a:p>
        </p:txBody>
      </p:sp>
      <p:sp>
        <p:nvSpPr>
          <p:cNvPr id="9" name="TextBox 8"/>
          <p:cNvSpPr txBox="1"/>
          <p:nvPr/>
        </p:nvSpPr>
        <p:spPr>
          <a:xfrm>
            <a:off x="4736592" y="2377440"/>
            <a:ext cx="621792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MIDDLE  /  7–16</a:t>
            </a:r>
          </a:p>
        </p:txBody>
      </p:sp>
      <p:sp>
        <p:nvSpPr>
          <p:cNvPr id="10" name="TextBox 9"/>
          <p:cNvSpPr txBox="1"/>
          <p:nvPr/>
        </p:nvSpPr>
        <p:spPr>
          <a:xfrm>
            <a:off x="11521440" y="2377440"/>
            <a:ext cx="246888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DEATH  /  17–20</a:t>
            </a:r>
          </a:p>
        </p:txBody>
      </p:sp>
      <p:sp>
        <p:nvSpPr>
          <p:cNvPr id="11" name="Rectangle 10"/>
          <p:cNvSpPr/>
          <p:nvPr/>
        </p:nvSpPr>
        <p:spPr>
          <a:xfrm>
            <a:off x="640080" y="3063240"/>
            <a:ext cx="585216" cy="141732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0080"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a:t>
            </a:r>
          </a:p>
        </p:txBody>
      </p:sp>
      <p:sp>
        <p:nvSpPr>
          <p:cNvPr id="13" name="TextBox 12"/>
          <p:cNvSpPr txBox="1"/>
          <p:nvPr/>
        </p:nvSpPr>
        <p:spPr>
          <a:xfrm>
            <a:off x="640080"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A</a:t>
            </a:r>
          </a:p>
        </p:txBody>
      </p:sp>
      <p:sp>
        <p:nvSpPr>
          <p:cNvPr id="14" name="Rectangle 13"/>
          <p:cNvSpPr/>
          <p:nvPr/>
        </p:nvSpPr>
        <p:spPr>
          <a:xfrm>
            <a:off x="1307592" y="3063240"/>
            <a:ext cx="585216" cy="1417320"/>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307592"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2</a:t>
            </a:r>
          </a:p>
        </p:txBody>
      </p:sp>
      <p:sp>
        <p:nvSpPr>
          <p:cNvPr id="16" name="TextBox 15"/>
          <p:cNvSpPr txBox="1"/>
          <p:nvPr/>
        </p:nvSpPr>
        <p:spPr>
          <a:xfrm>
            <a:off x="1307592"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B</a:t>
            </a:r>
          </a:p>
        </p:txBody>
      </p:sp>
      <p:sp>
        <p:nvSpPr>
          <p:cNvPr id="17" name="Rectangle 16"/>
          <p:cNvSpPr/>
          <p:nvPr/>
        </p:nvSpPr>
        <p:spPr>
          <a:xfrm>
            <a:off x="1975104" y="3063240"/>
            <a:ext cx="585216" cy="141732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975104"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3</a:t>
            </a:r>
          </a:p>
        </p:txBody>
      </p:sp>
      <p:sp>
        <p:nvSpPr>
          <p:cNvPr id="19" name="TextBox 18"/>
          <p:cNvSpPr txBox="1"/>
          <p:nvPr/>
        </p:nvSpPr>
        <p:spPr>
          <a:xfrm>
            <a:off x="1975104"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A</a:t>
            </a:r>
          </a:p>
        </p:txBody>
      </p:sp>
      <p:sp>
        <p:nvSpPr>
          <p:cNvPr id="20" name="Rectangle 19"/>
          <p:cNvSpPr/>
          <p:nvPr/>
        </p:nvSpPr>
        <p:spPr>
          <a:xfrm>
            <a:off x="2642615" y="3063240"/>
            <a:ext cx="585216" cy="1417320"/>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642615"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4</a:t>
            </a:r>
          </a:p>
        </p:txBody>
      </p:sp>
      <p:sp>
        <p:nvSpPr>
          <p:cNvPr id="22" name="TextBox 21"/>
          <p:cNvSpPr txBox="1"/>
          <p:nvPr/>
        </p:nvSpPr>
        <p:spPr>
          <a:xfrm>
            <a:off x="2642615"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B</a:t>
            </a:r>
          </a:p>
        </p:txBody>
      </p:sp>
      <p:sp>
        <p:nvSpPr>
          <p:cNvPr id="23" name="Rectangle 22"/>
          <p:cNvSpPr/>
          <p:nvPr/>
        </p:nvSpPr>
        <p:spPr>
          <a:xfrm>
            <a:off x="3310128" y="3063240"/>
            <a:ext cx="585216" cy="1417320"/>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310128"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5</a:t>
            </a:r>
          </a:p>
        </p:txBody>
      </p:sp>
      <p:sp>
        <p:nvSpPr>
          <p:cNvPr id="25" name="TextBox 24"/>
          <p:cNvSpPr txBox="1"/>
          <p:nvPr/>
        </p:nvSpPr>
        <p:spPr>
          <a:xfrm>
            <a:off x="3310128"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C</a:t>
            </a:r>
          </a:p>
        </p:txBody>
      </p:sp>
      <p:sp>
        <p:nvSpPr>
          <p:cNvPr id="26" name="Rectangle 25"/>
          <p:cNvSpPr/>
          <p:nvPr/>
        </p:nvSpPr>
        <p:spPr>
          <a:xfrm>
            <a:off x="3977639" y="3063240"/>
            <a:ext cx="585216" cy="141732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3977639"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6</a:t>
            </a:r>
          </a:p>
        </p:txBody>
      </p:sp>
      <p:sp>
        <p:nvSpPr>
          <p:cNvPr id="28" name="TextBox 27"/>
          <p:cNvSpPr txBox="1"/>
          <p:nvPr/>
        </p:nvSpPr>
        <p:spPr>
          <a:xfrm>
            <a:off x="3977639"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A</a:t>
            </a:r>
          </a:p>
        </p:txBody>
      </p:sp>
      <p:sp>
        <p:nvSpPr>
          <p:cNvPr id="29" name="Rectangle 28"/>
          <p:cNvSpPr/>
          <p:nvPr/>
        </p:nvSpPr>
        <p:spPr>
          <a:xfrm>
            <a:off x="4645152" y="3063240"/>
            <a:ext cx="585216" cy="1417320"/>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645152"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7</a:t>
            </a:r>
          </a:p>
        </p:txBody>
      </p:sp>
      <p:sp>
        <p:nvSpPr>
          <p:cNvPr id="31" name="TextBox 30"/>
          <p:cNvSpPr txBox="1"/>
          <p:nvPr/>
        </p:nvSpPr>
        <p:spPr>
          <a:xfrm>
            <a:off x="4645152"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D</a:t>
            </a:r>
          </a:p>
        </p:txBody>
      </p:sp>
      <p:sp>
        <p:nvSpPr>
          <p:cNvPr id="32" name="Rectangle 31"/>
          <p:cNvSpPr/>
          <p:nvPr/>
        </p:nvSpPr>
        <p:spPr>
          <a:xfrm>
            <a:off x="5312664" y="3063240"/>
            <a:ext cx="585216" cy="1417320"/>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312664"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8</a:t>
            </a:r>
          </a:p>
        </p:txBody>
      </p:sp>
      <p:sp>
        <p:nvSpPr>
          <p:cNvPr id="34" name="TextBox 33"/>
          <p:cNvSpPr txBox="1"/>
          <p:nvPr/>
        </p:nvSpPr>
        <p:spPr>
          <a:xfrm>
            <a:off x="5312664"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E</a:t>
            </a:r>
          </a:p>
        </p:txBody>
      </p:sp>
      <p:sp>
        <p:nvSpPr>
          <p:cNvPr id="35" name="Rectangle 34"/>
          <p:cNvSpPr/>
          <p:nvPr/>
        </p:nvSpPr>
        <p:spPr>
          <a:xfrm>
            <a:off x="5980176" y="3063240"/>
            <a:ext cx="585216" cy="1417320"/>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980176"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9</a:t>
            </a:r>
          </a:p>
        </p:txBody>
      </p:sp>
      <p:sp>
        <p:nvSpPr>
          <p:cNvPr id="37" name="TextBox 36"/>
          <p:cNvSpPr txBox="1"/>
          <p:nvPr/>
        </p:nvSpPr>
        <p:spPr>
          <a:xfrm>
            <a:off x="5980176"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C</a:t>
            </a:r>
          </a:p>
        </p:txBody>
      </p:sp>
      <p:sp>
        <p:nvSpPr>
          <p:cNvPr id="38" name="Rectangle 37"/>
          <p:cNvSpPr/>
          <p:nvPr/>
        </p:nvSpPr>
        <p:spPr>
          <a:xfrm>
            <a:off x="6647688" y="3063240"/>
            <a:ext cx="585216" cy="1417320"/>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647688"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10</a:t>
            </a:r>
          </a:p>
        </p:txBody>
      </p:sp>
      <p:sp>
        <p:nvSpPr>
          <p:cNvPr id="40" name="TextBox 39"/>
          <p:cNvSpPr txBox="1"/>
          <p:nvPr/>
        </p:nvSpPr>
        <p:spPr>
          <a:xfrm>
            <a:off x="6647688"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D</a:t>
            </a:r>
          </a:p>
        </p:txBody>
      </p:sp>
      <p:sp>
        <p:nvSpPr>
          <p:cNvPr id="41" name="Rectangle 40"/>
          <p:cNvSpPr/>
          <p:nvPr/>
        </p:nvSpPr>
        <p:spPr>
          <a:xfrm>
            <a:off x="7315200" y="3063240"/>
            <a:ext cx="585216" cy="1417320"/>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7315200"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11</a:t>
            </a:r>
          </a:p>
        </p:txBody>
      </p:sp>
      <p:sp>
        <p:nvSpPr>
          <p:cNvPr id="43" name="TextBox 42"/>
          <p:cNvSpPr txBox="1"/>
          <p:nvPr/>
        </p:nvSpPr>
        <p:spPr>
          <a:xfrm>
            <a:off x="7315200"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E</a:t>
            </a:r>
          </a:p>
        </p:txBody>
      </p:sp>
      <p:sp>
        <p:nvSpPr>
          <p:cNvPr id="44" name="Rectangle 43"/>
          <p:cNvSpPr/>
          <p:nvPr/>
        </p:nvSpPr>
        <p:spPr>
          <a:xfrm>
            <a:off x="7982711" y="3063240"/>
            <a:ext cx="585216" cy="1417320"/>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982711"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12</a:t>
            </a:r>
          </a:p>
        </p:txBody>
      </p:sp>
      <p:sp>
        <p:nvSpPr>
          <p:cNvPr id="46" name="TextBox 45"/>
          <p:cNvSpPr txBox="1"/>
          <p:nvPr/>
        </p:nvSpPr>
        <p:spPr>
          <a:xfrm>
            <a:off x="7982711"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D</a:t>
            </a:r>
          </a:p>
        </p:txBody>
      </p:sp>
      <p:sp>
        <p:nvSpPr>
          <p:cNvPr id="47" name="Rectangle 46"/>
          <p:cNvSpPr/>
          <p:nvPr/>
        </p:nvSpPr>
        <p:spPr>
          <a:xfrm>
            <a:off x="8650224" y="3063240"/>
            <a:ext cx="585216" cy="1417320"/>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650224"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13</a:t>
            </a:r>
          </a:p>
        </p:txBody>
      </p:sp>
      <p:sp>
        <p:nvSpPr>
          <p:cNvPr id="49" name="TextBox 48"/>
          <p:cNvSpPr txBox="1"/>
          <p:nvPr/>
        </p:nvSpPr>
        <p:spPr>
          <a:xfrm>
            <a:off x="8650224"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E</a:t>
            </a:r>
          </a:p>
        </p:txBody>
      </p:sp>
      <p:sp>
        <p:nvSpPr>
          <p:cNvPr id="50" name="Rectangle 49"/>
          <p:cNvSpPr/>
          <p:nvPr/>
        </p:nvSpPr>
        <p:spPr>
          <a:xfrm>
            <a:off x="9317736" y="3063240"/>
            <a:ext cx="585216" cy="1417320"/>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9317736"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14</a:t>
            </a:r>
          </a:p>
        </p:txBody>
      </p:sp>
      <p:sp>
        <p:nvSpPr>
          <p:cNvPr id="52" name="TextBox 51"/>
          <p:cNvSpPr txBox="1"/>
          <p:nvPr/>
        </p:nvSpPr>
        <p:spPr>
          <a:xfrm>
            <a:off x="9317736"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D</a:t>
            </a:r>
          </a:p>
        </p:txBody>
      </p:sp>
      <p:sp>
        <p:nvSpPr>
          <p:cNvPr id="53" name="Rectangle 52"/>
          <p:cNvSpPr/>
          <p:nvPr/>
        </p:nvSpPr>
        <p:spPr>
          <a:xfrm>
            <a:off x="9985247" y="3063240"/>
            <a:ext cx="585216" cy="1417320"/>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985247"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15</a:t>
            </a:r>
          </a:p>
        </p:txBody>
      </p:sp>
      <p:sp>
        <p:nvSpPr>
          <p:cNvPr id="55" name="TextBox 54"/>
          <p:cNvSpPr txBox="1"/>
          <p:nvPr/>
        </p:nvSpPr>
        <p:spPr>
          <a:xfrm>
            <a:off x="9985247"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E</a:t>
            </a:r>
          </a:p>
        </p:txBody>
      </p:sp>
      <p:sp>
        <p:nvSpPr>
          <p:cNvPr id="56" name="Rectangle 55"/>
          <p:cNvSpPr/>
          <p:nvPr/>
        </p:nvSpPr>
        <p:spPr>
          <a:xfrm>
            <a:off x="10652759" y="3063240"/>
            <a:ext cx="585216" cy="141732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10652759"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16</a:t>
            </a:r>
          </a:p>
        </p:txBody>
      </p:sp>
      <p:sp>
        <p:nvSpPr>
          <p:cNvPr id="58" name="TextBox 57"/>
          <p:cNvSpPr txBox="1"/>
          <p:nvPr/>
        </p:nvSpPr>
        <p:spPr>
          <a:xfrm>
            <a:off x="10652759"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A</a:t>
            </a:r>
          </a:p>
        </p:txBody>
      </p:sp>
      <p:sp>
        <p:nvSpPr>
          <p:cNvPr id="59" name="Rectangle 58"/>
          <p:cNvSpPr/>
          <p:nvPr/>
        </p:nvSpPr>
        <p:spPr>
          <a:xfrm>
            <a:off x="11320272" y="3063240"/>
            <a:ext cx="585216" cy="1417320"/>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11320272"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17</a:t>
            </a:r>
          </a:p>
        </p:txBody>
      </p:sp>
      <p:sp>
        <p:nvSpPr>
          <p:cNvPr id="61" name="TextBox 60"/>
          <p:cNvSpPr txBox="1"/>
          <p:nvPr/>
        </p:nvSpPr>
        <p:spPr>
          <a:xfrm>
            <a:off x="11320272"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B</a:t>
            </a:r>
          </a:p>
        </p:txBody>
      </p:sp>
      <p:sp>
        <p:nvSpPr>
          <p:cNvPr id="62" name="Rectangle 61"/>
          <p:cNvSpPr/>
          <p:nvPr/>
        </p:nvSpPr>
        <p:spPr>
          <a:xfrm>
            <a:off x="11987784" y="3063240"/>
            <a:ext cx="585216" cy="1417320"/>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1987784"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18</a:t>
            </a:r>
          </a:p>
        </p:txBody>
      </p:sp>
      <p:sp>
        <p:nvSpPr>
          <p:cNvPr id="64" name="TextBox 63"/>
          <p:cNvSpPr txBox="1"/>
          <p:nvPr/>
        </p:nvSpPr>
        <p:spPr>
          <a:xfrm>
            <a:off x="11987784"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C</a:t>
            </a:r>
          </a:p>
        </p:txBody>
      </p:sp>
      <p:sp>
        <p:nvSpPr>
          <p:cNvPr id="65" name="Rectangle 64"/>
          <p:cNvSpPr/>
          <p:nvPr/>
        </p:nvSpPr>
        <p:spPr>
          <a:xfrm>
            <a:off x="12655296" y="3063240"/>
            <a:ext cx="585216" cy="1417320"/>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12655296"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19</a:t>
            </a:r>
          </a:p>
        </p:txBody>
      </p:sp>
      <p:sp>
        <p:nvSpPr>
          <p:cNvPr id="67" name="TextBox 66"/>
          <p:cNvSpPr txBox="1"/>
          <p:nvPr/>
        </p:nvSpPr>
        <p:spPr>
          <a:xfrm>
            <a:off x="12655296"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B</a:t>
            </a:r>
          </a:p>
        </p:txBody>
      </p:sp>
      <p:sp>
        <p:nvSpPr>
          <p:cNvPr id="68" name="Rectangle 67"/>
          <p:cNvSpPr/>
          <p:nvPr/>
        </p:nvSpPr>
        <p:spPr>
          <a:xfrm>
            <a:off x="13322807" y="3063240"/>
            <a:ext cx="585216" cy="1417320"/>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13322807"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20</a:t>
            </a:r>
          </a:p>
        </p:txBody>
      </p:sp>
      <p:sp>
        <p:nvSpPr>
          <p:cNvPr id="70" name="TextBox 69"/>
          <p:cNvSpPr txBox="1"/>
          <p:nvPr/>
        </p:nvSpPr>
        <p:spPr>
          <a:xfrm>
            <a:off x="13322807"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C</a:t>
            </a:r>
          </a:p>
        </p:txBody>
      </p:sp>
      <p:sp>
        <p:nvSpPr>
          <p:cNvPr id="71" name="Rectangle 70"/>
          <p:cNvSpPr/>
          <p:nvPr/>
        </p:nvSpPr>
        <p:spPr>
          <a:xfrm>
            <a:off x="640080" y="5166360"/>
            <a:ext cx="301752" cy="301752"/>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1097280" y="513892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A  AM Ghazanfar</a:t>
            </a:r>
          </a:p>
        </p:txBody>
      </p:sp>
      <p:sp>
        <p:nvSpPr>
          <p:cNvPr id="73" name="Rectangle 72"/>
          <p:cNvSpPr/>
          <p:nvPr/>
        </p:nvSpPr>
        <p:spPr>
          <a:xfrm>
            <a:off x="5212080" y="5166360"/>
            <a:ext cx="301752" cy="301752"/>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669280" y="513892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B  Deepak Chahar</a:t>
            </a:r>
          </a:p>
        </p:txBody>
      </p:sp>
      <p:sp>
        <p:nvSpPr>
          <p:cNvPr id="75" name="Rectangle 74"/>
          <p:cNvSpPr/>
          <p:nvPr/>
        </p:nvSpPr>
        <p:spPr>
          <a:xfrm>
            <a:off x="9784080" y="5166360"/>
            <a:ext cx="301752" cy="301752"/>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10241280" y="513892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C  Ashwani Kumar</a:t>
            </a:r>
          </a:p>
        </p:txBody>
      </p:sp>
      <p:sp>
        <p:nvSpPr>
          <p:cNvPr id="77" name="Rectangle 76"/>
          <p:cNvSpPr/>
          <p:nvPr/>
        </p:nvSpPr>
        <p:spPr>
          <a:xfrm>
            <a:off x="640080" y="5897880"/>
            <a:ext cx="301752" cy="301752"/>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1097280" y="587044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D  Mitchell Santner</a:t>
            </a:r>
          </a:p>
        </p:txBody>
      </p:sp>
      <p:sp>
        <p:nvSpPr>
          <p:cNvPr id="79" name="Rectangle 78"/>
          <p:cNvSpPr/>
          <p:nvPr/>
        </p:nvSpPr>
        <p:spPr>
          <a:xfrm>
            <a:off x="5212080" y="5897880"/>
            <a:ext cx="301752" cy="301752"/>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5669280" y="587044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E  Corbin Bosch</a:t>
            </a:r>
          </a:p>
        </p:txBody>
      </p:sp>
      <p:sp>
        <p:nvSpPr>
          <p:cNvPr id="81" name="Rectangle 80"/>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20 overs  /  120 legal balls  /  No adjacent repeats  /  Each named bowler: 4 overs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SCENARIO ANALYSIS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Make assumptions visible before solving.</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18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Availability and roles</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Exclude unavailable players; lock required players.</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Set supported spin, pace and other role minima.</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Compare a forced alternative and who leaves.</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Costs and capabilities</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Enter assumed prices when using a budget.</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Justify any workload or utility override.</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Dated source blocks cannot be overridden.</a:t>
            </a:r>
          </a:p>
        </p:txBody>
      </p:sp>
      <p:sp>
        <p:nvSpPr>
          <p:cNvPr id="22" name="Rectangle 2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Historical auction entries do not become live market values.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MATCH RESEARCH</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model must beat a credible baseline.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19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match-research.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RESEARCH</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Regularized logistic model with dated features.</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CONTROL</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Team A/B, venue and confirmed chasing team.</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LIMIT</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No lineup, injury, weather or pitch-report input.</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v3.1.0 · Local evidence mode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EXPERIMENT DESIGN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Time order prevents future results leaking backward.</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20 / 44</a:t>
            </a:r>
          </a:p>
        </p:txBody>
      </p:sp>
      <p:sp>
        <p:nvSpPr>
          <p:cNvPr id="8" name="TextBox 7"/>
          <p:cNvSpPr txBox="1"/>
          <p:nvPr/>
        </p:nvSpPr>
        <p:spPr>
          <a:xfrm>
            <a:off x="640080" y="2560320"/>
            <a:ext cx="4114800" cy="41148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BEFORE 2023</a:t>
            </a:r>
          </a:p>
        </p:txBody>
      </p:sp>
      <p:sp>
        <p:nvSpPr>
          <p:cNvPr id="9" name="TextBox 8"/>
          <p:cNvSpPr txBox="1"/>
          <p:nvPr/>
        </p:nvSpPr>
        <p:spPr>
          <a:xfrm>
            <a:off x="640080" y="3337560"/>
            <a:ext cx="411480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Fit fixed model</a:t>
            </a:r>
          </a:p>
        </p:txBody>
      </p:sp>
      <p:sp>
        <p:nvSpPr>
          <p:cNvPr id="10" name="TextBox 9"/>
          <p:cNvSpPr txBox="1"/>
          <p:nvPr/>
        </p:nvSpPr>
        <p:spPr>
          <a:xfrm>
            <a:off x="640080" y="4297680"/>
            <a:ext cx="4114800" cy="45720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946 training matches</a:t>
            </a:r>
          </a:p>
        </p:txBody>
      </p:sp>
      <p:sp>
        <p:nvSpPr>
          <p:cNvPr id="11" name="Rectangle 10"/>
          <p:cNvSpPr/>
          <p:nvPr/>
        </p:nvSpPr>
        <p:spPr>
          <a:xfrm>
            <a:off x="640080" y="5120640"/>
            <a:ext cx="411480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212080" y="2560320"/>
            <a:ext cx="4114800" cy="41148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2023</a:t>
            </a:r>
          </a:p>
        </p:txBody>
      </p:sp>
      <p:sp>
        <p:nvSpPr>
          <p:cNvPr id="13" name="TextBox 12"/>
          <p:cNvSpPr txBox="1"/>
          <p:nvPr/>
        </p:nvSpPr>
        <p:spPr>
          <a:xfrm>
            <a:off x="5212080" y="3337560"/>
            <a:ext cx="411480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Validate</a:t>
            </a:r>
          </a:p>
        </p:txBody>
      </p:sp>
      <p:sp>
        <p:nvSpPr>
          <p:cNvPr id="14" name="TextBox 13"/>
          <p:cNvSpPr txBox="1"/>
          <p:nvPr/>
        </p:nvSpPr>
        <p:spPr>
          <a:xfrm>
            <a:off x="5212080" y="4297680"/>
            <a:ext cx="4114800" cy="45720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73 validation matches</a:t>
            </a:r>
          </a:p>
        </p:txBody>
      </p:sp>
      <p:sp>
        <p:nvSpPr>
          <p:cNvPr id="15" name="Rectangle 14"/>
          <p:cNvSpPr/>
          <p:nvPr/>
        </p:nvSpPr>
        <p:spPr>
          <a:xfrm>
            <a:off x="5212080" y="5120640"/>
            <a:ext cx="411480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784080" y="2560320"/>
            <a:ext cx="4114800" cy="41148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2024 ONWARD</a:t>
            </a:r>
          </a:p>
        </p:txBody>
      </p:sp>
      <p:sp>
        <p:nvSpPr>
          <p:cNvPr id="17" name="TextBox 16"/>
          <p:cNvSpPr txBox="1"/>
          <p:nvPr/>
        </p:nvSpPr>
        <p:spPr>
          <a:xfrm>
            <a:off x="9784080" y="3337560"/>
            <a:ext cx="411480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Held-out test</a:t>
            </a:r>
          </a:p>
        </p:txBody>
      </p:sp>
      <p:sp>
        <p:nvSpPr>
          <p:cNvPr id="18" name="TextBox 17"/>
          <p:cNvSpPr txBox="1"/>
          <p:nvPr/>
        </p:nvSpPr>
        <p:spPr>
          <a:xfrm>
            <a:off x="9784080" y="4297680"/>
            <a:ext cx="4114800" cy="45720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215 test matches</a:t>
            </a:r>
          </a:p>
        </p:txBody>
      </p:sp>
      <p:sp>
        <p:nvSpPr>
          <p:cNvPr id="19" name="Rectangle 18"/>
          <p:cNvSpPr/>
          <p:nvPr/>
        </p:nvSpPr>
        <p:spPr>
          <a:xfrm>
            <a:off x="9784080" y="5120640"/>
            <a:ext cx="411480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Within each date: forecast every match first, then update ratings from results.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MODEL RESULTS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baseline remains the displayed estimate.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21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5003153" cy="292608"/>
          </a:xfrm>
          <a:prstGeom prst="rect">
            <a:avLst/>
          </a:prstGeom>
          <a:noFill/>
        </p:spPr>
        <p:txBody>
          <a:bodyPr wrap="square" lIns="0" rIns="0" tIns="0" bIns="0">
            <a:spAutoFit/>
          </a:bodyPr>
          <a:lstStyle/>
          <a:p>
            <a:pPr algn="l">
              <a:lnSpc>
                <a:spcPct val="112000"/>
              </a:lnSpc>
              <a:spcAft>
                <a:spcPts val="600"/>
              </a:spcAft>
              <a:defRPr sz="2100" b="1">
                <a:solidFill>
                  <a:srgbClr val="FFFFFF"/>
                </a:solidFill>
                <a:latin typeface="Liberation Sans"/>
              </a:defRPr>
            </a:pPr>
            <a:r>
              <a:t>Brier score ↓</a:t>
            </a:r>
          </a:p>
        </p:txBody>
      </p:sp>
      <p:sp>
        <p:nvSpPr>
          <p:cNvPr id="10" name="TextBox 9"/>
          <p:cNvSpPr txBox="1"/>
          <p:nvPr/>
        </p:nvSpPr>
        <p:spPr>
          <a:xfrm>
            <a:off x="6045569" y="2551176"/>
            <a:ext cx="3789495" cy="292608"/>
          </a:xfrm>
          <a:prstGeom prst="rect">
            <a:avLst/>
          </a:prstGeom>
          <a:noFill/>
        </p:spPr>
        <p:txBody>
          <a:bodyPr wrap="square" lIns="0" rIns="0" tIns="0" bIns="0">
            <a:spAutoFit/>
          </a:bodyPr>
          <a:lstStyle/>
          <a:p>
            <a:pPr algn="l">
              <a:lnSpc>
                <a:spcPct val="112000"/>
              </a:lnSpc>
              <a:spcAft>
                <a:spcPts val="600"/>
              </a:spcAft>
              <a:defRPr sz="2100" b="1">
                <a:solidFill>
                  <a:srgbClr val="FFFFFF"/>
                </a:solidFill>
                <a:latin typeface="Liberation Sans"/>
              </a:defRPr>
            </a:pPr>
            <a:r>
              <a:t>Validation (73)</a:t>
            </a:r>
          </a:p>
        </p:txBody>
      </p:sp>
      <p:sp>
        <p:nvSpPr>
          <p:cNvPr id="11" name="TextBox 10"/>
          <p:cNvSpPr txBox="1"/>
          <p:nvPr/>
        </p:nvSpPr>
        <p:spPr>
          <a:xfrm>
            <a:off x="10091096" y="2551176"/>
            <a:ext cx="3789495" cy="292608"/>
          </a:xfrm>
          <a:prstGeom prst="rect">
            <a:avLst/>
          </a:prstGeom>
          <a:noFill/>
        </p:spPr>
        <p:txBody>
          <a:bodyPr wrap="square" lIns="0" rIns="0" tIns="0" bIns="0">
            <a:spAutoFit/>
          </a:bodyPr>
          <a:lstStyle/>
          <a:p>
            <a:pPr algn="l">
              <a:lnSpc>
                <a:spcPct val="112000"/>
              </a:lnSpc>
              <a:spcAft>
                <a:spcPts val="600"/>
              </a:spcAft>
              <a:defRPr sz="2100" b="1">
                <a:solidFill>
                  <a:srgbClr val="FFFFFF"/>
                </a:solidFill>
                <a:latin typeface="Liberation Sans"/>
              </a:defRPr>
            </a:pPr>
            <a:r>
              <a:t>Test (215)</a:t>
            </a:r>
          </a:p>
        </p:txBody>
      </p:sp>
      <p:sp>
        <p:nvSpPr>
          <p:cNvPr id="12" name="Rectangle 11"/>
          <p:cNvSpPr/>
          <p:nvPr/>
        </p:nvSpPr>
        <p:spPr>
          <a:xfrm>
            <a:off x="640080" y="2953512"/>
            <a:ext cx="13350240"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86384" y="3081528"/>
            <a:ext cx="5003153"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Research post-toss</a:t>
            </a:r>
          </a:p>
        </p:txBody>
      </p:sp>
      <p:sp>
        <p:nvSpPr>
          <p:cNvPr id="14" name="TextBox 13"/>
          <p:cNvSpPr txBox="1"/>
          <p:nvPr/>
        </p:nvSpPr>
        <p:spPr>
          <a:xfrm>
            <a:off x="6045569" y="3081528"/>
            <a:ext cx="3789495"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0.256489</a:t>
            </a:r>
          </a:p>
        </p:txBody>
      </p:sp>
      <p:sp>
        <p:nvSpPr>
          <p:cNvPr id="15" name="TextBox 14"/>
          <p:cNvSpPr txBox="1"/>
          <p:nvPr/>
        </p:nvSpPr>
        <p:spPr>
          <a:xfrm>
            <a:off x="10091096" y="3081528"/>
            <a:ext cx="3789495"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0.248577</a:t>
            </a:r>
          </a:p>
        </p:txBody>
      </p:sp>
      <p:sp>
        <p:nvSpPr>
          <p:cNvPr id="16" name="Rectangle 15"/>
          <p:cNvSpPr/>
          <p:nvPr/>
        </p:nvSpPr>
        <p:spPr>
          <a:xfrm>
            <a:off x="640080" y="37764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40080" y="3776472"/>
            <a:ext cx="13350240" cy="82296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86384" y="3904487"/>
            <a:ext cx="5003153"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Training chase baseline</a:t>
            </a:r>
          </a:p>
        </p:txBody>
      </p:sp>
      <p:sp>
        <p:nvSpPr>
          <p:cNvPr id="19" name="TextBox 18"/>
          <p:cNvSpPr txBox="1"/>
          <p:nvPr/>
        </p:nvSpPr>
        <p:spPr>
          <a:xfrm>
            <a:off x="6045569" y="3904487"/>
            <a:ext cx="3789495"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0.257440</a:t>
            </a:r>
          </a:p>
        </p:txBody>
      </p:sp>
      <p:sp>
        <p:nvSpPr>
          <p:cNvPr id="20" name="TextBox 19"/>
          <p:cNvSpPr txBox="1"/>
          <p:nvPr/>
        </p:nvSpPr>
        <p:spPr>
          <a:xfrm>
            <a:off x="10091096" y="3904487"/>
            <a:ext cx="3789495"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0.247619</a:t>
            </a:r>
          </a:p>
        </p:txBody>
      </p:sp>
      <p:sp>
        <p:nvSpPr>
          <p:cNvPr id="21" name="Rectangle 20"/>
          <p:cNvSpPr/>
          <p:nvPr/>
        </p:nvSpPr>
        <p:spPr>
          <a:xfrm>
            <a:off x="640080" y="459943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0080" y="5303520"/>
            <a:ext cx="914400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GATE: BETTER IN BOTH PERIODS</a:t>
            </a:r>
          </a:p>
        </p:txBody>
      </p:sp>
      <p:sp>
        <p:nvSpPr>
          <p:cNvPr id="23" name="TextBox 22"/>
          <p:cNvSpPr txBox="1"/>
          <p:nvPr/>
        </p:nvSpPr>
        <p:spPr>
          <a:xfrm>
            <a:off x="640080" y="5806440"/>
            <a:ext cx="4572000" cy="548640"/>
          </a:xfrm>
          <a:prstGeom prst="rect">
            <a:avLst/>
          </a:prstGeom>
          <a:noFill/>
        </p:spPr>
        <p:txBody>
          <a:bodyPr wrap="square" lIns="0" rIns="0" tIns="0" bIns="0">
            <a:spAutoFit/>
          </a:bodyPr>
          <a:lstStyle/>
          <a:p>
            <a:pPr algn="l">
              <a:lnSpc>
                <a:spcPct val="112000"/>
              </a:lnSpc>
              <a:spcAft>
                <a:spcPts val="600"/>
              </a:spcAft>
              <a:defRPr sz="3100" b="0">
                <a:solidFill>
                  <a:srgbClr val="AB2436"/>
                </a:solidFill>
                <a:latin typeface="Liberation Serif"/>
              </a:defRPr>
            </a:pPr>
            <a:r>
              <a:t>Not passed</a:t>
            </a:r>
          </a:p>
        </p:txBody>
      </p:sp>
      <p:sp>
        <p:nvSpPr>
          <p:cNvPr id="24" name="TextBox 23"/>
          <p:cNvSpPr txBox="1"/>
          <p:nvPr/>
        </p:nvSpPr>
        <p:spPr>
          <a:xfrm>
            <a:off x="5577840" y="5852160"/>
            <a:ext cx="8229600" cy="73152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The baseline is served; no predictive edge is claimed.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JOURNAL &amp; EXPORTS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Keep the reasoning, not just the answer.</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22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journal.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JOURNAL</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Saved briefs and scenarios by browser session/team.</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MANIFEST</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Question, assumptions, dates and source SHA-256.</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EXPORT</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CSV, checked evidence and complete XI schedule.</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v3.1.0 · Local evidence mode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UI &amp; UX</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working studio, with clear visual hierarchy.</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23 / 44</a:t>
            </a:r>
          </a:p>
        </p:txBody>
      </p:sp>
      <p:sp>
        <p:nvSpPr>
          <p:cNvPr id="8" name="Rectangle 7"/>
          <p:cNvSpPr/>
          <p:nvPr/>
        </p:nvSpPr>
        <p:spPr>
          <a:xfrm>
            <a:off x="621792" y="2313432"/>
            <a:ext cx="7808975" cy="48828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home.png"/>
          <p:cNvPicPr>
            <a:picLocks noChangeAspect="1"/>
          </p:cNvPicPr>
          <p:nvPr/>
        </p:nvPicPr>
        <p:blipFill>
          <a:blip r:embed="rId3"/>
          <a:stretch>
            <a:fillRect/>
          </a:stretch>
        </p:blipFill>
        <p:spPr>
          <a:xfrm>
            <a:off x="649223" y="2331720"/>
            <a:ext cx="7754112" cy="4846320"/>
          </a:xfrm>
          <a:prstGeom prst="rect">
            <a:avLst/>
          </a:prstGeom>
        </p:spPr>
      </p:pic>
      <p:sp>
        <p:nvSpPr>
          <p:cNvPr id="10" name="TextBox 9"/>
          <p:cNvSpPr txBox="1"/>
          <p:nvPr/>
        </p:nvSpPr>
        <p:spPr>
          <a:xfrm>
            <a:off x="8869680" y="2432304"/>
            <a:ext cx="507492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CONTEXT</a:t>
            </a:r>
          </a:p>
        </p:txBody>
      </p:sp>
      <p:sp>
        <p:nvSpPr>
          <p:cNvPr id="11" name="TextBox 10"/>
          <p:cNvSpPr txBox="1"/>
          <p:nvPr/>
        </p:nvSpPr>
        <p:spPr>
          <a:xfrm>
            <a:off x="8869680" y="2843784"/>
            <a:ext cx="5074920" cy="59436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Franchise desk and visible filters</a:t>
            </a:r>
          </a:p>
        </p:txBody>
      </p:sp>
      <p:sp>
        <p:nvSpPr>
          <p:cNvPr id="12" name="TextBox 11"/>
          <p:cNvSpPr txBox="1"/>
          <p:nvPr/>
        </p:nvSpPr>
        <p:spPr>
          <a:xfrm>
            <a:off x="8869680" y="3593592"/>
            <a:ext cx="507492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APPEARANCE</a:t>
            </a:r>
          </a:p>
        </p:txBody>
      </p:sp>
      <p:sp>
        <p:nvSpPr>
          <p:cNvPr id="13" name="TextBox 12"/>
          <p:cNvSpPr txBox="1"/>
          <p:nvPr/>
        </p:nvSpPr>
        <p:spPr>
          <a:xfrm>
            <a:off x="8869680" y="4005072"/>
            <a:ext cx="5074920" cy="59436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Light, Dark and team accents</a:t>
            </a:r>
          </a:p>
        </p:txBody>
      </p:sp>
      <p:sp>
        <p:nvSpPr>
          <p:cNvPr id="14" name="TextBox 13"/>
          <p:cNvSpPr txBox="1"/>
          <p:nvPr/>
        </p:nvSpPr>
        <p:spPr>
          <a:xfrm>
            <a:off x="8869680" y="4754880"/>
            <a:ext cx="507492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MOTION</a:t>
            </a:r>
          </a:p>
        </p:txBody>
      </p:sp>
      <p:sp>
        <p:nvSpPr>
          <p:cNvPr id="15" name="TextBox 14"/>
          <p:cNvSpPr txBox="1"/>
          <p:nvPr/>
        </p:nvSpPr>
        <p:spPr>
          <a:xfrm>
            <a:off x="8869680" y="5166360"/>
            <a:ext cx="5074920" cy="59436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Reduced-motion controls</a:t>
            </a:r>
          </a:p>
        </p:txBody>
      </p:sp>
      <p:sp>
        <p:nvSpPr>
          <p:cNvPr id="16" name="TextBox 15"/>
          <p:cNvSpPr txBox="1"/>
          <p:nvPr/>
        </p:nvSpPr>
        <p:spPr>
          <a:xfrm>
            <a:off x="8869680" y="5916168"/>
            <a:ext cx="507492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LANGUAGE</a:t>
            </a:r>
          </a:p>
        </p:txBody>
      </p:sp>
      <p:sp>
        <p:nvSpPr>
          <p:cNvPr id="17" name="TextBox 16"/>
          <p:cNvSpPr txBox="1"/>
          <p:nvPr/>
        </p:nvSpPr>
        <p:spPr>
          <a:xfrm>
            <a:off x="8869680" y="6327648"/>
            <a:ext cx="5074920" cy="59436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Archive scope and uncertainty labels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GUIDE &amp; SETTINGS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application explains how to reproduce it.</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24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guide.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DOCUMENTATION</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Same simple-English guide in app, PDF and Word.</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SOURCE</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Allowlisted project ZIP with data and tests.</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SETTINGS</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Private key override, connection test and call limits.</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v3.1.0 · Local evidence mode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QUANTITATIVE VERIFICATION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Separate functional passes from source completeness.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25 / 44</a:t>
            </a:r>
          </a:p>
        </p:txBody>
      </p:sp>
      <p:sp>
        <p:nvSpPr>
          <p:cNvPr id="8" name="TextBox 7"/>
          <p:cNvSpPr txBox="1"/>
          <p:nvPr/>
        </p:nvSpPr>
        <p:spPr>
          <a:xfrm>
            <a:off x="640080" y="2468880"/>
            <a:ext cx="4114800" cy="1005840"/>
          </a:xfrm>
          <a:prstGeom prst="rect">
            <a:avLst/>
          </a:prstGeom>
          <a:noFill/>
        </p:spPr>
        <p:txBody>
          <a:bodyPr wrap="square" lIns="0" rIns="0" tIns="0" bIns="0">
            <a:spAutoFit/>
          </a:bodyPr>
          <a:lstStyle/>
          <a:p>
            <a:pPr algn="l">
              <a:lnSpc>
                <a:spcPct val="112000"/>
              </a:lnSpc>
              <a:spcAft>
                <a:spcPts val="600"/>
              </a:spcAft>
              <a:defRPr sz="5100" b="0">
                <a:solidFill>
                  <a:srgbClr val="176B55"/>
                </a:solidFill>
                <a:latin typeface="Liberation Serif"/>
              </a:defRPr>
            </a:pPr>
            <a:r>
              <a:t>71</a:t>
            </a:r>
          </a:p>
        </p:txBody>
      </p:sp>
      <p:sp>
        <p:nvSpPr>
          <p:cNvPr id="9" name="TextBox 8"/>
          <p:cNvSpPr txBox="1"/>
          <p:nvPr/>
        </p:nvSpPr>
        <p:spPr>
          <a:xfrm>
            <a:off x="640080" y="3611880"/>
            <a:ext cx="4206240" cy="59436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Automated tests</a:t>
            </a:r>
          </a:p>
        </p:txBody>
      </p:sp>
      <p:sp>
        <p:nvSpPr>
          <p:cNvPr id="10" name="TextBox 9"/>
          <p:cNvSpPr txBox="1"/>
          <p:nvPr/>
        </p:nvSpPr>
        <p:spPr>
          <a:xfrm>
            <a:off x="5212080" y="2468880"/>
            <a:ext cx="4114800" cy="1005840"/>
          </a:xfrm>
          <a:prstGeom prst="rect">
            <a:avLst/>
          </a:prstGeom>
          <a:noFill/>
        </p:spPr>
        <p:txBody>
          <a:bodyPr wrap="square" lIns="0" rIns="0" tIns="0" bIns="0">
            <a:spAutoFit/>
          </a:bodyPr>
          <a:lstStyle/>
          <a:p>
            <a:pPr algn="l">
              <a:lnSpc>
                <a:spcPct val="112000"/>
              </a:lnSpc>
              <a:spcAft>
                <a:spcPts val="600"/>
              </a:spcAft>
              <a:defRPr sz="5100" b="0">
                <a:solidFill>
                  <a:srgbClr val="176B55"/>
                </a:solidFill>
                <a:latin typeface="Liberation Serif"/>
              </a:defRPr>
            </a:pPr>
            <a:r>
              <a:t>58</a:t>
            </a:r>
          </a:p>
        </p:txBody>
      </p:sp>
      <p:sp>
        <p:nvSpPr>
          <p:cNvPr id="11" name="TextBox 10"/>
          <p:cNvSpPr txBox="1"/>
          <p:nvPr/>
        </p:nvSpPr>
        <p:spPr>
          <a:xfrm>
            <a:off x="5212080" y="3611880"/>
            <a:ext cx="4206240" cy="59436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Local browser checks</a:t>
            </a:r>
          </a:p>
        </p:txBody>
      </p:sp>
      <p:sp>
        <p:nvSpPr>
          <p:cNvPr id="12" name="TextBox 11"/>
          <p:cNvSpPr txBox="1"/>
          <p:nvPr/>
        </p:nvSpPr>
        <p:spPr>
          <a:xfrm>
            <a:off x="9784080" y="2468880"/>
            <a:ext cx="4114800" cy="1005840"/>
          </a:xfrm>
          <a:prstGeom prst="rect">
            <a:avLst/>
          </a:prstGeom>
          <a:noFill/>
        </p:spPr>
        <p:txBody>
          <a:bodyPr wrap="square" lIns="0" rIns="0" tIns="0" bIns="0">
            <a:spAutoFit/>
          </a:bodyPr>
          <a:lstStyle/>
          <a:p>
            <a:pPr algn="l">
              <a:lnSpc>
                <a:spcPct val="112000"/>
              </a:lnSpc>
              <a:spcAft>
                <a:spcPts val="600"/>
              </a:spcAft>
              <a:defRPr sz="5100" b="0">
                <a:solidFill>
                  <a:srgbClr val="176B55"/>
                </a:solidFill>
                <a:latin typeface="Liberation Serif"/>
              </a:defRPr>
            </a:pPr>
            <a:r>
              <a:t>0</a:t>
            </a:r>
          </a:p>
        </p:txBody>
      </p:sp>
      <p:sp>
        <p:nvSpPr>
          <p:cNvPr id="13" name="TextBox 12"/>
          <p:cNvSpPr txBox="1"/>
          <p:nvPr/>
        </p:nvSpPr>
        <p:spPr>
          <a:xfrm>
            <a:off x="9784080" y="3611880"/>
            <a:ext cx="4206240" cy="59436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Raw-ingestion mismatches</a:t>
            </a:r>
          </a:p>
        </p:txBody>
      </p:sp>
      <p:sp>
        <p:nvSpPr>
          <p:cNvPr id="14" name="Rectangle 13"/>
          <p:cNvSpPr/>
          <p:nvPr/>
        </p:nvSpPr>
        <p:spPr>
          <a:xfrm>
            <a:off x="640080" y="466344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86384" y="4791455"/>
            <a:ext cx="4137717" cy="292608"/>
          </a:xfrm>
          <a:prstGeom prst="rect">
            <a:avLst/>
          </a:prstGeom>
          <a:noFill/>
        </p:spPr>
        <p:txBody>
          <a:bodyPr wrap="square" lIns="0" rIns="0" tIns="0" bIns="0">
            <a:spAutoFit/>
          </a:bodyPr>
          <a:lstStyle/>
          <a:p>
            <a:pPr algn="l">
              <a:lnSpc>
                <a:spcPct val="112000"/>
              </a:lnSpc>
              <a:spcAft>
                <a:spcPts val="600"/>
              </a:spcAft>
              <a:defRPr sz="1400" b="1">
                <a:solidFill>
                  <a:srgbClr val="FFFFFF"/>
                </a:solidFill>
                <a:latin typeface="Liberation Sans"/>
              </a:defRPr>
            </a:pPr>
            <a:r>
              <a:t>Expanded check</a:t>
            </a:r>
          </a:p>
        </p:txBody>
      </p:sp>
      <p:sp>
        <p:nvSpPr>
          <p:cNvPr id="16" name="TextBox 15"/>
          <p:cNvSpPr txBox="1"/>
          <p:nvPr/>
        </p:nvSpPr>
        <p:spPr>
          <a:xfrm>
            <a:off x="5180133" y="4791455"/>
            <a:ext cx="1602862" cy="292608"/>
          </a:xfrm>
          <a:prstGeom prst="rect">
            <a:avLst/>
          </a:prstGeom>
          <a:noFill/>
        </p:spPr>
        <p:txBody>
          <a:bodyPr wrap="square" lIns="0" rIns="0" tIns="0" bIns="0">
            <a:spAutoFit/>
          </a:bodyPr>
          <a:lstStyle/>
          <a:p>
            <a:pPr algn="l">
              <a:lnSpc>
                <a:spcPct val="112000"/>
              </a:lnSpc>
              <a:spcAft>
                <a:spcPts val="600"/>
              </a:spcAft>
              <a:defRPr sz="1400" b="1">
                <a:solidFill>
                  <a:srgbClr val="FFFFFF"/>
                </a:solidFill>
                <a:latin typeface="Liberation Sans"/>
              </a:defRPr>
            </a:pPr>
            <a:r>
              <a:t>Cases</a:t>
            </a:r>
          </a:p>
        </p:txBody>
      </p:sp>
      <p:sp>
        <p:nvSpPr>
          <p:cNvPr id="17" name="TextBox 16"/>
          <p:cNvSpPr txBox="1"/>
          <p:nvPr/>
        </p:nvSpPr>
        <p:spPr>
          <a:xfrm>
            <a:off x="7039028" y="4791455"/>
            <a:ext cx="6841563" cy="292608"/>
          </a:xfrm>
          <a:prstGeom prst="rect">
            <a:avLst/>
          </a:prstGeom>
          <a:noFill/>
        </p:spPr>
        <p:txBody>
          <a:bodyPr wrap="square" lIns="0" rIns="0" tIns="0" bIns="0">
            <a:spAutoFit/>
          </a:bodyPr>
          <a:lstStyle/>
          <a:p>
            <a:pPr algn="l">
              <a:lnSpc>
                <a:spcPct val="112000"/>
              </a:lnSpc>
              <a:spcAft>
                <a:spcPts val="600"/>
              </a:spcAft>
              <a:defRPr sz="1400" b="1">
                <a:solidFill>
                  <a:srgbClr val="FFFFFF"/>
                </a:solidFill>
                <a:latin typeface="Liberation Sans"/>
              </a:defRPr>
            </a:pPr>
            <a:r>
              <a:t>Interpretation</a:t>
            </a:r>
          </a:p>
        </p:txBody>
      </p:sp>
      <p:sp>
        <p:nvSpPr>
          <p:cNvPr id="18" name="Rectangle 17"/>
          <p:cNvSpPr/>
          <p:nvPr/>
        </p:nvSpPr>
        <p:spPr>
          <a:xfrm>
            <a:off x="640080" y="5193792"/>
            <a:ext cx="13350240" cy="4572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86384" y="5321807"/>
            <a:ext cx="4137717"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Scouting settings</a:t>
            </a:r>
          </a:p>
        </p:txBody>
      </p:sp>
      <p:sp>
        <p:nvSpPr>
          <p:cNvPr id="20" name="TextBox 19"/>
          <p:cNvSpPr txBox="1"/>
          <p:nvPr/>
        </p:nvSpPr>
        <p:spPr>
          <a:xfrm>
            <a:off x="5180133" y="5321807"/>
            <a:ext cx="1602862"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144</a:t>
            </a:r>
          </a:p>
        </p:txBody>
      </p:sp>
      <p:sp>
        <p:nvSpPr>
          <p:cNvPr id="21" name="TextBox 20"/>
          <p:cNvSpPr txBox="1"/>
          <p:nvPr/>
        </p:nvSpPr>
        <p:spPr>
          <a:xfrm>
            <a:off x="7039028" y="5321807"/>
            <a:ext cx="6841563"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Competition / phase / date / discipline</a:t>
            </a:r>
          </a:p>
        </p:txBody>
      </p:sp>
      <p:sp>
        <p:nvSpPr>
          <p:cNvPr id="22" name="Rectangle 21"/>
          <p:cNvSpPr/>
          <p:nvPr/>
        </p:nvSpPr>
        <p:spPr>
          <a:xfrm>
            <a:off x="640080" y="56509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5650992"/>
            <a:ext cx="13350240" cy="4572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5779007"/>
            <a:ext cx="4137717"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All-team scenarios</a:t>
            </a:r>
          </a:p>
        </p:txBody>
      </p:sp>
      <p:sp>
        <p:nvSpPr>
          <p:cNvPr id="25" name="TextBox 24"/>
          <p:cNvSpPr txBox="1"/>
          <p:nvPr/>
        </p:nvSpPr>
        <p:spPr>
          <a:xfrm>
            <a:off x="5180133" y="5779007"/>
            <a:ext cx="1602862"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90</a:t>
            </a:r>
          </a:p>
        </p:txBody>
      </p:sp>
      <p:sp>
        <p:nvSpPr>
          <p:cNvPr id="26" name="TextBox 25"/>
          <p:cNvSpPr txBox="1"/>
          <p:nvPr/>
        </p:nvSpPr>
        <p:spPr>
          <a:xfrm>
            <a:off x="7039028" y="5779007"/>
            <a:ext cx="6841563"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50 supported; 40 explained rejections</a:t>
            </a:r>
          </a:p>
        </p:txBody>
      </p:sp>
      <p:sp>
        <p:nvSpPr>
          <p:cNvPr id="27" name="Rectangle 26"/>
          <p:cNvSpPr/>
          <p:nvPr/>
        </p:nvSpPr>
        <p:spPr>
          <a:xfrm>
            <a:off x="640080" y="61081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40080" y="6108192"/>
            <a:ext cx="13350240" cy="4572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86384" y="6236207"/>
            <a:ext cx="4137717"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Forced-player requests</a:t>
            </a:r>
          </a:p>
        </p:txBody>
      </p:sp>
      <p:sp>
        <p:nvSpPr>
          <p:cNvPr id="30" name="TextBox 29"/>
          <p:cNvSpPr txBox="1"/>
          <p:nvPr/>
        </p:nvSpPr>
        <p:spPr>
          <a:xfrm>
            <a:off x="5180133" y="6236207"/>
            <a:ext cx="1602862"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257</a:t>
            </a:r>
          </a:p>
        </p:txBody>
      </p:sp>
      <p:sp>
        <p:nvSpPr>
          <p:cNvPr id="31" name="TextBox 30"/>
          <p:cNvSpPr txBox="1"/>
          <p:nvPr/>
        </p:nvSpPr>
        <p:spPr>
          <a:xfrm>
            <a:off x="7039028" y="6236207"/>
            <a:ext cx="6841563"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214 supported; 43 explained rejections</a:t>
            </a:r>
          </a:p>
        </p:txBody>
      </p:sp>
      <p:sp>
        <p:nvSpPr>
          <p:cNvPr id="32" name="Rectangle 31"/>
          <p:cNvSpPr/>
          <p:nvPr/>
        </p:nvSpPr>
        <p:spPr>
          <a:xfrm>
            <a:off x="640080" y="6565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640080" y="6565392"/>
            <a:ext cx="13350240" cy="4572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86384" y="6693407"/>
            <a:ext cx="4137717"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Displayed squad dossiers</a:t>
            </a:r>
          </a:p>
        </p:txBody>
      </p:sp>
      <p:sp>
        <p:nvSpPr>
          <p:cNvPr id="35" name="TextBox 34"/>
          <p:cNvSpPr txBox="1"/>
          <p:nvPr/>
        </p:nvSpPr>
        <p:spPr>
          <a:xfrm>
            <a:off x="5180133" y="6693407"/>
            <a:ext cx="1602862"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257</a:t>
            </a:r>
          </a:p>
        </p:txBody>
      </p:sp>
      <p:sp>
        <p:nvSpPr>
          <p:cNvPr id="36" name="TextBox 35"/>
          <p:cNvSpPr txBox="1"/>
          <p:nvPr/>
        </p:nvSpPr>
        <p:spPr>
          <a:xfrm>
            <a:off x="7039028" y="6693407"/>
            <a:ext cx="6841563"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All match stored records or report no identity</a:t>
            </a:r>
          </a:p>
        </p:txBody>
      </p:sp>
      <p:sp>
        <p:nvSpPr>
          <p:cNvPr id="37" name="Rectangle 36"/>
          <p:cNvSpPr/>
          <p:nvPr/>
        </p:nvSpPr>
        <p:spPr>
          <a:xfrm>
            <a:off x="640080" y="70225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40080" y="7287768"/>
            <a:ext cx="13350240" cy="274320"/>
          </a:xfrm>
          <a:prstGeom prst="rect">
            <a:avLst/>
          </a:prstGeom>
          <a:noFill/>
        </p:spPr>
        <p:txBody>
          <a:bodyPr wrap="square" lIns="0" rIns="0" tIns="0" bIns="0">
            <a:spAutoFit/>
          </a:bodyPr>
          <a:lstStyle/>
          <a:p>
            <a:pPr algn="l">
              <a:lnSpc>
                <a:spcPct val="112000"/>
              </a:lnSpc>
              <a:spcAft>
                <a:spcPts val="600"/>
              </a:spcAft>
              <a:defRPr sz="1100" b="0">
                <a:solidFill>
                  <a:srgbClr val="596B72"/>
                </a:solidFill>
                <a:latin typeface="Liberation Sans"/>
              </a:defRPr>
            </a:pPr>
            <a:r>
              <a:t>Raw reconciliation: 3,393,048 fields across 1,455,366 deliveries. Units are distinct; no combined “accuracy” percentage.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EXTERNAL CHECKS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Official comparisons reveal real coverage limits.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26 / 44</a:t>
            </a:r>
          </a:p>
        </p:txBody>
      </p:sp>
      <p:sp>
        <p:nvSpPr>
          <p:cNvPr id="8" name="TextBox 7"/>
          <p:cNvSpPr txBox="1"/>
          <p:nvPr/>
        </p:nvSpPr>
        <p:spPr>
          <a:xfrm>
            <a:off x="640080" y="2423160"/>
            <a:ext cx="4023360" cy="960120"/>
          </a:xfrm>
          <a:prstGeom prst="rect">
            <a:avLst/>
          </a:prstGeom>
          <a:noFill/>
        </p:spPr>
        <p:txBody>
          <a:bodyPr wrap="square" lIns="0" rIns="0" tIns="0" bIns="0">
            <a:spAutoFit/>
          </a:bodyPr>
          <a:lstStyle/>
          <a:p>
            <a:pPr algn="l">
              <a:lnSpc>
                <a:spcPct val="112000"/>
              </a:lnSpc>
              <a:spcAft>
                <a:spcPts val="600"/>
              </a:spcAft>
              <a:defRPr sz="4900" b="0">
                <a:solidFill>
                  <a:srgbClr val="176B55"/>
                </a:solidFill>
                <a:latin typeface="Liberation Serif"/>
              </a:defRPr>
            </a:pPr>
            <a:r>
              <a:t>188</a:t>
            </a:r>
          </a:p>
        </p:txBody>
      </p:sp>
      <p:sp>
        <p:nvSpPr>
          <p:cNvPr id="9" name="TextBox 8"/>
          <p:cNvSpPr txBox="1"/>
          <p:nvPr/>
        </p:nvSpPr>
        <p:spPr>
          <a:xfrm>
            <a:off x="640080" y="3611880"/>
            <a:ext cx="4114800" cy="68580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Matched checkpoints</a:t>
            </a:r>
          </a:p>
        </p:txBody>
      </p:sp>
      <p:sp>
        <p:nvSpPr>
          <p:cNvPr id="10" name="TextBox 9"/>
          <p:cNvSpPr txBox="1"/>
          <p:nvPr/>
        </p:nvSpPr>
        <p:spPr>
          <a:xfrm>
            <a:off x="5212080" y="2423160"/>
            <a:ext cx="4023360" cy="960120"/>
          </a:xfrm>
          <a:prstGeom prst="rect">
            <a:avLst/>
          </a:prstGeom>
          <a:noFill/>
        </p:spPr>
        <p:txBody>
          <a:bodyPr wrap="square" lIns="0" rIns="0" tIns="0" bIns="0">
            <a:spAutoFit/>
          </a:bodyPr>
          <a:lstStyle/>
          <a:p>
            <a:pPr algn="l">
              <a:lnSpc>
                <a:spcPct val="112000"/>
              </a:lnSpc>
              <a:spcAft>
                <a:spcPts val="600"/>
              </a:spcAft>
              <a:defRPr sz="4900" b="0">
                <a:solidFill>
                  <a:srgbClr val="B78632"/>
                </a:solidFill>
                <a:latin typeface="Liberation Serif"/>
              </a:defRPr>
            </a:pPr>
            <a:r>
              <a:t>5</a:t>
            </a:r>
          </a:p>
        </p:txBody>
      </p:sp>
      <p:sp>
        <p:nvSpPr>
          <p:cNvPr id="11" name="TextBox 10"/>
          <p:cNvSpPr txBox="1"/>
          <p:nvPr/>
        </p:nvSpPr>
        <p:spPr>
          <a:xfrm>
            <a:off x="5212080" y="3611880"/>
            <a:ext cx="4114800" cy="68580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Measured coverage gaps</a:t>
            </a:r>
          </a:p>
        </p:txBody>
      </p:sp>
      <p:sp>
        <p:nvSpPr>
          <p:cNvPr id="12" name="TextBox 11"/>
          <p:cNvSpPr txBox="1"/>
          <p:nvPr/>
        </p:nvSpPr>
        <p:spPr>
          <a:xfrm>
            <a:off x="9784080" y="2423160"/>
            <a:ext cx="4023360" cy="960120"/>
          </a:xfrm>
          <a:prstGeom prst="rect">
            <a:avLst/>
          </a:prstGeom>
          <a:noFill/>
        </p:spPr>
        <p:txBody>
          <a:bodyPr wrap="square" lIns="0" rIns="0" tIns="0" bIns="0">
            <a:spAutoFit/>
          </a:bodyPr>
          <a:lstStyle/>
          <a:p>
            <a:pPr algn="l">
              <a:lnSpc>
                <a:spcPct val="112000"/>
              </a:lnSpc>
              <a:spcAft>
                <a:spcPts val="600"/>
              </a:spcAft>
              <a:defRPr sz="4900" b="0">
                <a:solidFill>
                  <a:srgbClr val="AB2436"/>
                </a:solidFill>
                <a:latin typeface="Liberation Serif"/>
              </a:defRPr>
            </a:pPr>
            <a:r>
              <a:t>1</a:t>
            </a:r>
          </a:p>
        </p:txBody>
      </p:sp>
      <p:sp>
        <p:nvSpPr>
          <p:cNvPr id="13" name="TextBox 12"/>
          <p:cNvSpPr txBox="1"/>
          <p:nvPr/>
        </p:nvSpPr>
        <p:spPr>
          <a:xfrm>
            <a:off x="9784080" y="3611880"/>
            <a:ext cx="4114800" cy="68580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Unresolved conflict</a:t>
            </a:r>
          </a:p>
        </p:txBody>
      </p:sp>
      <p:sp>
        <p:nvSpPr>
          <p:cNvPr id="14" name="TextBox 13"/>
          <p:cNvSpPr txBox="1"/>
          <p:nvPr/>
        </p:nvSpPr>
        <p:spPr>
          <a:xfrm>
            <a:off x="640080" y="4718304"/>
            <a:ext cx="13350240" cy="54864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194 numeric checkpoints / 15 primary pages / all ten IPL teams</a:t>
            </a:r>
          </a:p>
        </p:txBody>
      </p:sp>
      <p:sp>
        <p:nvSpPr>
          <p:cNvPr id="15" name="Rectangle 14"/>
          <p:cNvSpPr/>
          <p:nvPr/>
        </p:nvSpPr>
        <p:spPr>
          <a:xfrm>
            <a:off x="640080" y="566928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5797296"/>
            <a:ext cx="4878675"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Kohli T20I</a:t>
            </a:r>
          </a:p>
        </p:txBody>
      </p:sp>
      <p:sp>
        <p:nvSpPr>
          <p:cNvPr id="17" name="TextBox 16"/>
          <p:cNvSpPr txBox="1"/>
          <p:nvPr/>
        </p:nvSpPr>
        <p:spPr>
          <a:xfrm>
            <a:off x="5921091" y="5797296"/>
            <a:ext cx="3851734"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Supplied archive</a:t>
            </a:r>
          </a:p>
        </p:txBody>
      </p:sp>
      <p:sp>
        <p:nvSpPr>
          <p:cNvPr id="18" name="TextBox 17"/>
          <p:cNvSpPr txBox="1"/>
          <p:nvPr/>
        </p:nvSpPr>
        <p:spPr>
          <a:xfrm>
            <a:off x="10028857" y="5797296"/>
            <a:ext cx="3851734"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ICC career reference</a:t>
            </a:r>
          </a:p>
        </p:txBody>
      </p:sp>
      <p:sp>
        <p:nvSpPr>
          <p:cNvPr id="19" name="Rectangle 18"/>
          <p:cNvSpPr/>
          <p:nvPr/>
        </p:nvSpPr>
        <p:spPr>
          <a:xfrm>
            <a:off x="640080" y="6199632"/>
            <a:ext cx="133502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6327648"/>
            <a:ext cx="487867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Runs before 2024-07-01</a:t>
            </a:r>
          </a:p>
        </p:txBody>
      </p:sp>
      <p:sp>
        <p:nvSpPr>
          <p:cNvPr id="21" name="TextBox 20"/>
          <p:cNvSpPr txBox="1"/>
          <p:nvPr/>
        </p:nvSpPr>
        <p:spPr>
          <a:xfrm>
            <a:off x="5921091" y="6327648"/>
            <a:ext cx="3851734"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3,963</a:t>
            </a:r>
          </a:p>
        </p:txBody>
      </p:sp>
      <p:sp>
        <p:nvSpPr>
          <p:cNvPr id="22" name="TextBox 21"/>
          <p:cNvSpPr txBox="1"/>
          <p:nvPr/>
        </p:nvSpPr>
        <p:spPr>
          <a:xfrm>
            <a:off x="10028857" y="6327648"/>
            <a:ext cx="3851734"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4,188</a:t>
            </a:r>
          </a:p>
        </p:txBody>
      </p:sp>
      <p:sp>
        <p:nvSpPr>
          <p:cNvPr id="23" name="Rectangle 22"/>
          <p:cNvSpPr/>
          <p:nvPr/>
        </p:nvSpPr>
        <p:spPr>
          <a:xfrm>
            <a:off x="640080" y="67939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0080" y="7360920"/>
            <a:ext cx="13350240" cy="320040"/>
          </a:xfrm>
          <a:prstGeom prst="rect">
            <a:avLst/>
          </a:prstGeom>
          <a:noFill/>
        </p:spPr>
        <p:txBody>
          <a:bodyPr wrap="square" lIns="0" rIns="0" tIns="0" bIns="0">
            <a:spAutoFit/>
          </a:bodyPr>
          <a:lstStyle/>
          <a:p>
            <a:pPr algn="l">
              <a:lnSpc>
                <a:spcPct val="112000"/>
              </a:lnSpc>
              <a:spcAft>
                <a:spcPts val="600"/>
              </a:spcAft>
              <a:defRPr sz="1100" b="0">
                <a:solidFill>
                  <a:srgbClr val="596B72"/>
                </a:solidFill>
                <a:latin typeface="Liberation Sans"/>
              </a:defRPr>
            </a:pPr>
            <a:r>
              <a:t>Source: data/official_validation.csv. This is sampled external validation, not certification of every player.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ROSTER TRUST</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supplied pool is not a certified current squad.</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27 / 44</a:t>
            </a:r>
          </a:p>
        </p:txBody>
      </p:sp>
      <p:sp>
        <p:nvSpPr>
          <p:cNvPr id="8" name="TextBox 7"/>
          <p:cNvSpPr txBox="1"/>
          <p:nvPr/>
        </p:nvSpPr>
        <p:spPr>
          <a:xfrm>
            <a:off x="640080" y="2468880"/>
            <a:ext cx="4114800" cy="1005840"/>
          </a:xfrm>
          <a:prstGeom prst="rect">
            <a:avLst/>
          </a:prstGeom>
          <a:noFill/>
        </p:spPr>
        <p:txBody>
          <a:bodyPr wrap="square" lIns="0" rIns="0" tIns="0" bIns="0">
            <a:spAutoFit/>
          </a:bodyPr>
          <a:lstStyle/>
          <a:p>
            <a:pPr algn="l">
              <a:lnSpc>
                <a:spcPct val="112000"/>
              </a:lnSpc>
              <a:spcAft>
                <a:spcPts val="600"/>
              </a:spcAft>
              <a:defRPr sz="5000" b="0">
                <a:solidFill>
                  <a:srgbClr val="176B55"/>
                </a:solidFill>
                <a:latin typeface="Liberation Serif"/>
              </a:defRPr>
            </a:pPr>
            <a:r>
              <a:t>257</a:t>
            </a:r>
          </a:p>
        </p:txBody>
      </p:sp>
      <p:sp>
        <p:nvSpPr>
          <p:cNvPr id="9" name="TextBox 8"/>
          <p:cNvSpPr txBox="1"/>
          <p:nvPr/>
        </p:nvSpPr>
        <p:spPr>
          <a:xfrm>
            <a:off x="640080" y="3657600"/>
            <a:ext cx="4114800" cy="77724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Supplied pool rows</a:t>
            </a:r>
          </a:p>
        </p:txBody>
      </p:sp>
      <p:sp>
        <p:nvSpPr>
          <p:cNvPr id="10" name="TextBox 9"/>
          <p:cNvSpPr txBox="1"/>
          <p:nvPr/>
        </p:nvSpPr>
        <p:spPr>
          <a:xfrm>
            <a:off x="5212080" y="2468880"/>
            <a:ext cx="4114800" cy="1005840"/>
          </a:xfrm>
          <a:prstGeom prst="rect">
            <a:avLst/>
          </a:prstGeom>
          <a:noFill/>
        </p:spPr>
        <p:txBody>
          <a:bodyPr wrap="square" lIns="0" rIns="0" tIns="0" bIns="0">
            <a:spAutoFit/>
          </a:bodyPr>
          <a:lstStyle/>
          <a:p>
            <a:pPr algn="l">
              <a:lnSpc>
                <a:spcPct val="112000"/>
              </a:lnSpc>
              <a:spcAft>
                <a:spcPts val="600"/>
              </a:spcAft>
              <a:defRPr sz="5000" b="0">
                <a:solidFill>
                  <a:srgbClr val="176B55"/>
                </a:solidFill>
                <a:latin typeface="Liberation Serif"/>
              </a:defRPr>
            </a:pPr>
            <a:r>
              <a:t>14</a:t>
            </a:r>
          </a:p>
        </p:txBody>
      </p:sp>
      <p:sp>
        <p:nvSpPr>
          <p:cNvPr id="11" name="TextBox 10"/>
          <p:cNvSpPr txBox="1"/>
          <p:nvPr/>
        </p:nvSpPr>
        <p:spPr>
          <a:xfrm>
            <a:off x="5212080" y="3657600"/>
            <a:ext cx="4114800" cy="77724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Selected dated notices</a:t>
            </a:r>
          </a:p>
        </p:txBody>
      </p:sp>
      <p:sp>
        <p:nvSpPr>
          <p:cNvPr id="12" name="TextBox 11"/>
          <p:cNvSpPr txBox="1"/>
          <p:nvPr/>
        </p:nvSpPr>
        <p:spPr>
          <a:xfrm>
            <a:off x="9784080" y="2468880"/>
            <a:ext cx="4114800" cy="1005840"/>
          </a:xfrm>
          <a:prstGeom prst="rect">
            <a:avLst/>
          </a:prstGeom>
          <a:noFill/>
        </p:spPr>
        <p:txBody>
          <a:bodyPr wrap="square" lIns="0" rIns="0" tIns="0" bIns="0">
            <a:spAutoFit/>
          </a:bodyPr>
          <a:lstStyle/>
          <a:p>
            <a:pPr algn="l">
              <a:lnSpc>
                <a:spcPct val="112000"/>
              </a:lnSpc>
              <a:spcAft>
                <a:spcPts val="600"/>
              </a:spcAft>
              <a:defRPr sz="5000" b="0">
                <a:solidFill>
                  <a:srgbClr val="176B55"/>
                </a:solidFill>
                <a:latin typeface="Liberation Serif"/>
              </a:defRPr>
            </a:pPr>
            <a:r>
              <a:t>7</a:t>
            </a:r>
          </a:p>
        </p:txBody>
      </p:sp>
      <p:sp>
        <p:nvSpPr>
          <p:cNvPr id="13" name="TextBox 12"/>
          <p:cNvSpPr txBox="1"/>
          <p:nvPr/>
        </p:nvSpPr>
        <p:spPr>
          <a:xfrm>
            <a:off x="9784080" y="3657600"/>
            <a:ext cx="4114800" cy="77724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Missing replacement records</a:t>
            </a:r>
          </a:p>
        </p:txBody>
      </p:sp>
      <p:sp>
        <p:nvSpPr>
          <p:cNvPr id="14" name="TextBox 13"/>
          <p:cNvSpPr txBox="1"/>
          <p:nvPr/>
        </p:nvSpPr>
        <p:spPr>
          <a:xfrm>
            <a:off x="640080" y="4663440"/>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5" name="TextBox 14"/>
          <p:cNvSpPr txBox="1"/>
          <p:nvPr/>
        </p:nvSpPr>
        <p:spPr>
          <a:xfrm>
            <a:off x="950976" y="4663440"/>
            <a:ext cx="1294790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Block documented outgoing players after publication.</a:t>
            </a:r>
          </a:p>
        </p:txBody>
      </p:sp>
      <p:sp>
        <p:nvSpPr>
          <p:cNvPr id="16" name="TextBox 15"/>
          <p:cNvSpPr txBox="1"/>
          <p:nvPr/>
        </p:nvSpPr>
        <p:spPr>
          <a:xfrm>
            <a:off x="640080" y="5669279"/>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7" name="TextBox 16"/>
          <p:cNvSpPr txBox="1"/>
          <p:nvPr/>
        </p:nvSpPr>
        <p:spPr>
          <a:xfrm>
            <a:off x="950976" y="5669279"/>
            <a:ext cx="1294790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Block existing replacements before the documented join date.</a:t>
            </a:r>
          </a:p>
        </p:txBody>
      </p:sp>
      <p:sp>
        <p:nvSpPr>
          <p:cNvPr id="18" name="TextBox 17"/>
          <p:cNvSpPr txBox="1"/>
          <p:nvPr/>
        </p:nvSpPr>
        <p:spPr>
          <a:xfrm>
            <a:off x="640080" y="6675119"/>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9" name="TextBox 18"/>
          <p:cNvSpPr txBox="1"/>
          <p:nvPr/>
        </p:nvSpPr>
        <p:spPr>
          <a:xfrm>
            <a:off x="950976" y="6675119"/>
            <a:ext cx="1294790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Report missing verified metadata; never fabricate a roster.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06 / LIVE DEMO A</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RCB: shortlist death-bowling evidence.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28 / 44</a:t>
            </a:r>
          </a:p>
        </p:txBody>
      </p:sp>
      <p:sp>
        <p:nvSpPr>
          <p:cNvPr id="8" name="Rectangle 7"/>
          <p:cNvSpPr/>
          <p:nvPr/>
        </p:nvSpPr>
        <p:spPr>
          <a:xfrm>
            <a:off x="685800" y="2377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85800" y="2468880"/>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1</a:t>
            </a:r>
          </a:p>
        </p:txBody>
      </p:sp>
      <p:sp>
        <p:nvSpPr>
          <p:cNvPr id="10" name="TextBox 9"/>
          <p:cNvSpPr txBox="1"/>
          <p:nvPr/>
        </p:nvSpPr>
        <p:spPr>
          <a:xfrm>
            <a:off x="1554480" y="2377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Load RCB example</a:t>
            </a:r>
          </a:p>
        </p:txBody>
      </p:sp>
      <p:sp>
        <p:nvSpPr>
          <p:cNvPr id="11" name="TextBox 10"/>
          <p:cNvSpPr txBox="1"/>
          <p:nvPr/>
        </p:nvSpPr>
        <p:spPr>
          <a:xfrm>
            <a:off x="6858000" y="2404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Check IPL · Bowling · Death · 120 balls.</a:t>
            </a:r>
          </a:p>
        </p:txBody>
      </p:sp>
      <p:sp>
        <p:nvSpPr>
          <p:cNvPr id="12" name="Rectangle 11"/>
          <p:cNvSpPr/>
          <p:nvPr/>
        </p:nvSpPr>
        <p:spPr>
          <a:xfrm>
            <a:off x="685800" y="3520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85800" y="3611880"/>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2</a:t>
            </a:r>
          </a:p>
        </p:txBody>
      </p:sp>
      <p:sp>
        <p:nvSpPr>
          <p:cNvPr id="14" name="TextBox 13"/>
          <p:cNvSpPr txBox="1"/>
          <p:nvPr/>
        </p:nvSpPr>
        <p:spPr>
          <a:xfrm>
            <a:off x="1554480" y="3520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Prepare local brief</a:t>
            </a:r>
          </a:p>
        </p:txBody>
      </p:sp>
      <p:sp>
        <p:nvSpPr>
          <p:cNvPr id="15" name="TextBox 14"/>
          <p:cNvSpPr txBox="1"/>
          <p:nvPr/>
        </p:nvSpPr>
        <p:spPr>
          <a:xfrm>
            <a:off x="6858000" y="3547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Read economy, wickets, legal balls and last match.</a:t>
            </a:r>
          </a:p>
        </p:txBody>
      </p:sp>
      <p:sp>
        <p:nvSpPr>
          <p:cNvPr id="16" name="Rectangle 15"/>
          <p:cNvSpPr/>
          <p:nvPr/>
        </p:nvSpPr>
        <p:spPr>
          <a:xfrm>
            <a:off x="685800" y="4663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85800" y="4754879"/>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3</a:t>
            </a:r>
          </a:p>
        </p:txBody>
      </p:sp>
      <p:sp>
        <p:nvSpPr>
          <p:cNvPr id="18" name="TextBox 17"/>
          <p:cNvSpPr txBox="1"/>
          <p:nvPr/>
        </p:nvSpPr>
        <p:spPr>
          <a:xfrm>
            <a:off x="1554480" y="4663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Inspect the evidence</a:t>
            </a:r>
          </a:p>
        </p:txBody>
      </p:sp>
      <p:sp>
        <p:nvSpPr>
          <p:cNvPr id="19" name="TextBox 18"/>
          <p:cNvSpPr txBox="1"/>
          <p:nvPr/>
        </p:nvSpPr>
        <p:spPr>
          <a:xfrm>
            <a:off x="6858000" y="4690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Compare scope and observed-rate uncertainty.</a:t>
            </a:r>
          </a:p>
        </p:txBody>
      </p:sp>
      <p:sp>
        <p:nvSpPr>
          <p:cNvPr id="20" name="Rectangle 19"/>
          <p:cNvSpPr/>
          <p:nvPr/>
        </p:nvSpPr>
        <p:spPr>
          <a:xfrm>
            <a:off x="685800" y="5806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85800" y="5897879"/>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4</a:t>
            </a:r>
          </a:p>
        </p:txBody>
      </p:sp>
      <p:sp>
        <p:nvSpPr>
          <p:cNvPr id="22" name="TextBox 21"/>
          <p:cNvSpPr txBox="1"/>
          <p:nvPr/>
        </p:nvSpPr>
        <p:spPr>
          <a:xfrm>
            <a:off x="1554480" y="5806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Save the decision</a:t>
            </a:r>
          </a:p>
        </p:txBody>
      </p:sp>
      <p:sp>
        <p:nvSpPr>
          <p:cNvPr id="23" name="TextBox 22"/>
          <p:cNvSpPr txBox="1"/>
          <p:nvPr/>
        </p:nvSpPr>
        <p:spPr>
          <a:xfrm>
            <a:off x="6858000" y="5833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Export the brief; list current-availability checks.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06 / LIVE DEMO B</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MI: remove Bumrah and account for every over.</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29 / 44</a:t>
            </a:r>
          </a:p>
        </p:txBody>
      </p:sp>
      <p:sp>
        <p:nvSpPr>
          <p:cNvPr id="8" name="Rectangle 7"/>
          <p:cNvSpPr/>
          <p:nvPr/>
        </p:nvSpPr>
        <p:spPr>
          <a:xfrm>
            <a:off x="685800" y="2377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85800" y="2468880"/>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1</a:t>
            </a:r>
          </a:p>
        </p:txBody>
      </p:sp>
      <p:sp>
        <p:nvSpPr>
          <p:cNvPr id="10" name="TextBox 9"/>
          <p:cNvSpPr txBox="1"/>
          <p:nvPr/>
        </p:nvSpPr>
        <p:spPr>
          <a:xfrm>
            <a:off x="1554480" y="2377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Load MI scenario</a:t>
            </a:r>
          </a:p>
        </p:txBody>
      </p:sp>
      <p:sp>
        <p:nvSpPr>
          <p:cNvPr id="11" name="TextBox 10"/>
          <p:cNvSpPr txBox="1"/>
          <p:nvPr/>
        </p:nvSpPr>
        <p:spPr>
          <a:xfrm>
            <a:off x="6858000" y="2404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Bumrah is explicitly excluded in the controls.</a:t>
            </a:r>
          </a:p>
        </p:txBody>
      </p:sp>
      <p:sp>
        <p:nvSpPr>
          <p:cNvPr id="12" name="Rectangle 11"/>
          <p:cNvSpPr/>
          <p:nvPr/>
        </p:nvSpPr>
        <p:spPr>
          <a:xfrm>
            <a:off x="685800" y="3520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85800" y="3611880"/>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2</a:t>
            </a:r>
          </a:p>
        </p:txBody>
      </p:sp>
      <p:sp>
        <p:nvSpPr>
          <p:cNvPr id="14" name="TextBox 13"/>
          <p:cNvSpPr txBox="1"/>
          <p:nvPr/>
        </p:nvSpPr>
        <p:spPr>
          <a:xfrm>
            <a:off x="1554480" y="3520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Inspect the XI</a:t>
            </a:r>
          </a:p>
        </p:txBody>
      </p:sp>
      <p:sp>
        <p:nvSpPr>
          <p:cNvPr id="15" name="TextBox 14"/>
          <p:cNvSpPr txBox="1"/>
          <p:nvPr/>
        </p:nvSpPr>
        <p:spPr>
          <a:xfrm>
            <a:off x="6858000" y="3547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Check eleven players, roles and overseas limit.</a:t>
            </a:r>
          </a:p>
        </p:txBody>
      </p:sp>
      <p:sp>
        <p:nvSpPr>
          <p:cNvPr id="16" name="Rectangle 15"/>
          <p:cNvSpPr/>
          <p:nvPr/>
        </p:nvSpPr>
        <p:spPr>
          <a:xfrm>
            <a:off x="685800" y="4663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85800" y="4754879"/>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3</a:t>
            </a:r>
          </a:p>
        </p:txBody>
      </p:sp>
      <p:sp>
        <p:nvSpPr>
          <p:cNvPr id="18" name="TextBox 17"/>
          <p:cNvSpPr txBox="1"/>
          <p:nvPr/>
        </p:nvSpPr>
        <p:spPr>
          <a:xfrm>
            <a:off x="1554480" y="4663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Open the schedule</a:t>
            </a:r>
          </a:p>
        </p:txBody>
      </p:sp>
      <p:sp>
        <p:nvSpPr>
          <p:cNvPr id="19" name="TextBox 18"/>
          <p:cNvSpPr txBox="1"/>
          <p:nvPr/>
        </p:nvSpPr>
        <p:spPr>
          <a:xfrm>
            <a:off x="6858000" y="4690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Check every over, phase caps and repeated bowlers.</a:t>
            </a:r>
          </a:p>
        </p:txBody>
      </p:sp>
      <p:sp>
        <p:nvSpPr>
          <p:cNvPr id="20" name="Rectangle 19"/>
          <p:cNvSpPr/>
          <p:nvPr/>
        </p:nvSpPr>
        <p:spPr>
          <a:xfrm>
            <a:off x="685800" y="5806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85800" y="5897879"/>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4</a:t>
            </a:r>
          </a:p>
        </p:txBody>
      </p:sp>
      <p:sp>
        <p:nvSpPr>
          <p:cNvPr id="22" name="TextBox 21"/>
          <p:cNvSpPr txBox="1"/>
          <p:nvPr/>
        </p:nvSpPr>
        <p:spPr>
          <a:xfrm>
            <a:off x="1554480" y="5806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Test a counterfactual</a:t>
            </a:r>
          </a:p>
        </p:txBody>
      </p:sp>
      <p:sp>
        <p:nvSpPr>
          <p:cNvPr id="23" name="TextBox 22"/>
          <p:cNvSpPr txBox="1"/>
          <p:nvPr/>
        </p:nvSpPr>
        <p:spPr>
          <a:xfrm>
            <a:off x="6858000" y="5833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Force an alternative or try an impossible budget.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06 / RUN &amp; COST</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low-cost capstone, with optional API use.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30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6001892" cy="292608"/>
          </a:xfrm>
          <a:prstGeom prst="rect">
            <a:avLst/>
          </a:prstGeom>
          <a:noFill/>
        </p:spPr>
        <p:txBody>
          <a:bodyPr wrap="square" lIns="0" rIns="0" tIns="0" bIns="0">
            <a:spAutoFit/>
          </a:bodyPr>
          <a:lstStyle/>
          <a:p>
            <a:pPr algn="l">
              <a:lnSpc>
                <a:spcPct val="112000"/>
              </a:lnSpc>
              <a:spcAft>
                <a:spcPts val="600"/>
              </a:spcAft>
              <a:defRPr sz="1700" b="1">
                <a:solidFill>
                  <a:srgbClr val="FFFFFF"/>
                </a:solidFill>
                <a:latin typeface="Liberation Sans"/>
              </a:defRPr>
            </a:pPr>
            <a:r>
              <a:t>Local reproduction</a:t>
            </a:r>
          </a:p>
        </p:txBody>
      </p:sp>
      <p:sp>
        <p:nvSpPr>
          <p:cNvPr id="10" name="TextBox 9"/>
          <p:cNvSpPr txBox="1"/>
          <p:nvPr/>
        </p:nvSpPr>
        <p:spPr>
          <a:xfrm>
            <a:off x="7044308" y="2551176"/>
            <a:ext cx="6836282" cy="292608"/>
          </a:xfrm>
          <a:prstGeom prst="rect">
            <a:avLst/>
          </a:prstGeom>
          <a:noFill/>
        </p:spPr>
        <p:txBody>
          <a:bodyPr wrap="square" lIns="0" rIns="0" tIns="0" bIns="0">
            <a:spAutoFit/>
          </a:bodyPr>
          <a:lstStyle/>
          <a:p>
            <a:pPr algn="l">
              <a:lnSpc>
                <a:spcPct val="112000"/>
              </a:lnSpc>
              <a:spcAft>
                <a:spcPts val="600"/>
              </a:spcAft>
              <a:defRPr sz="1700" b="1">
                <a:solidFill>
                  <a:srgbClr val="FFFFFF"/>
                </a:solidFill>
                <a:latin typeface="Liberation Sans"/>
              </a:defRPr>
            </a:pPr>
            <a:r>
              <a:t>Purpose</a:t>
            </a:r>
          </a:p>
        </p:txBody>
      </p:sp>
      <p:sp>
        <p:nvSpPr>
          <p:cNvPr id="11" name="Rectangle 10"/>
          <p:cNvSpPr/>
          <p:nvPr/>
        </p:nvSpPr>
        <p:spPr>
          <a:xfrm>
            <a:off x="640080" y="29535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600189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1. Extract the source ZIP</a:t>
            </a:r>
          </a:p>
        </p:txBody>
      </p:sp>
      <p:sp>
        <p:nvSpPr>
          <p:cNvPr id="13" name="TextBox 12"/>
          <p:cNvSpPr txBox="1"/>
          <p:nvPr/>
        </p:nvSpPr>
        <p:spPr>
          <a:xfrm>
            <a:off x="7044308" y="3081528"/>
            <a:ext cx="683628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Processed release data is included.</a:t>
            </a:r>
          </a:p>
        </p:txBody>
      </p:sp>
      <p:sp>
        <p:nvSpPr>
          <p:cNvPr id="14" name="Rectangle 13"/>
          <p:cNvSpPr/>
          <p:nvPr/>
        </p:nvSpPr>
        <p:spPr>
          <a:xfrm>
            <a:off x="640080" y="36393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639312"/>
            <a:ext cx="13350240" cy="6858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767328"/>
            <a:ext cx="600189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2. Create a Python environment</a:t>
            </a:r>
          </a:p>
        </p:txBody>
      </p:sp>
      <p:sp>
        <p:nvSpPr>
          <p:cNvPr id="17" name="TextBox 16"/>
          <p:cNvSpPr txBox="1"/>
          <p:nvPr/>
        </p:nvSpPr>
        <p:spPr>
          <a:xfrm>
            <a:off x="7044308" y="3767328"/>
            <a:ext cx="683628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Use tested Python 3.12 or a compatible version.</a:t>
            </a:r>
          </a:p>
        </p:txBody>
      </p:sp>
      <p:sp>
        <p:nvSpPr>
          <p:cNvPr id="18" name="Rectangle 17"/>
          <p:cNvSpPr/>
          <p:nvPr/>
        </p:nvSpPr>
        <p:spPr>
          <a:xfrm>
            <a:off x="640080" y="43251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3251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453128"/>
            <a:ext cx="600189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3. pip install -r requirements.txt</a:t>
            </a:r>
          </a:p>
        </p:txBody>
      </p:sp>
      <p:sp>
        <p:nvSpPr>
          <p:cNvPr id="21" name="TextBox 20"/>
          <p:cNvSpPr txBox="1"/>
          <p:nvPr/>
        </p:nvSpPr>
        <p:spPr>
          <a:xfrm>
            <a:off x="7044308" y="4453128"/>
            <a:ext cx="683628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Streamlit, pandas, NumPy, SciPy and Altair.</a:t>
            </a:r>
          </a:p>
        </p:txBody>
      </p:sp>
      <p:sp>
        <p:nvSpPr>
          <p:cNvPr id="22" name="Rectangle 21"/>
          <p:cNvSpPr/>
          <p:nvPr/>
        </p:nvSpPr>
        <p:spPr>
          <a:xfrm>
            <a:off x="640080" y="50109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5010912"/>
            <a:ext cx="13350240" cy="6858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5138928"/>
            <a:ext cx="600189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4. python -m streamlit run app.py</a:t>
            </a:r>
          </a:p>
        </p:txBody>
      </p:sp>
      <p:sp>
        <p:nvSpPr>
          <p:cNvPr id="25" name="TextBox 24"/>
          <p:cNvSpPr txBox="1"/>
          <p:nvPr/>
        </p:nvSpPr>
        <p:spPr>
          <a:xfrm>
            <a:off x="7044308" y="5138928"/>
            <a:ext cx="683628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Local evidence works without an API key.</a:t>
            </a:r>
          </a:p>
        </p:txBody>
      </p:sp>
      <p:sp>
        <p:nvSpPr>
          <p:cNvPr id="26" name="Rectangle 25"/>
          <p:cNvSpPr/>
          <p:nvPr/>
        </p:nvSpPr>
        <p:spPr>
          <a:xfrm>
            <a:off x="640080" y="56967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Optional hosting + DeepSeek: private Secrets, demo call limits and provider spending controls.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07 / SWOT</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credible capstone has visible trade-offs.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31 / 44</a:t>
            </a:r>
          </a:p>
        </p:txBody>
      </p:sp>
      <p:sp>
        <p:nvSpPr>
          <p:cNvPr id="8" name="Rectangle 7"/>
          <p:cNvSpPr/>
          <p:nvPr/>
        </p:nvSpPr>
        <p:spPr>
          <a:xfrm>
            <a:off x="640080" y="2350008"/>
            <a:ext cx="630936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0080" y="2542032"/>
            <a:ext cx="6309360" cy="365760"/>
          </a:xfrm>
          <a:prstGeom prst="rect">
            <a:avLst/>
          </a:prstGeom>
          <a:noFill/>
        </p:spPr>
        <p:txBody>
          <a:bodyPr wrap="square" lIns="0" rIns="0" tIns="0" bIns="0">
            <a:spAutoFit/>
          </a:bodyPr>
          <a:lstStyle/>
          <a:p>
            <a:pPr algn="l">
              <a:lnSpc>
                <a:spcPct val="112000"/>
              </a:lnSpc>
              <a:spcAft>
                <a:spcPts val="600"/>
              </a:spcAft>
              <a:defRPr sz="1400" b="1">
                <a:solidFill>
                  <a:srgbClr val="176B55"/>
                </a:solidFill>
                <a:latin typeface="Liberation Sans"/>
              </a:defRPr>
            </a:pPr>
            <a:r>
              <a:t>STRENGTHS</a:t>
            </a:r>
          </a:p>
        </p:txBody>
      </p:sp>
      <p:sp>
        <p:nvSpPr>
          <p:cNvPr id="10" name="TextBox 9"/>
          <p:cNvSpPr txBox="1"/>
          <p:nvPr/>
        </p:nvSpPr>
        <p:spPr>
          <a:xfrm>
            <a:off x="640080" y="3145536"/>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Traceable records</a:t>
            </a:r>
          </a:p>
        </p:txBody>
      </p:sp>
      <p:sp>
        <p:nvSpPr>
          <p:cNvPr id="11" name="TextBox 10"/>
          <p:cNvSpPr txBox="1"/>
          <p:nvPr/>
        </p:nvSpPr>
        <p:spPr>
          <a:xfrm>
            <a:off x="640080" y="3575304"/>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Complete constrained schedule</a:t>
            </a:r>
          </a:p>
        </p:txBody>
      </p:sp>
      <p:sp>
        <p:nvSpPr>
          <p:cNvPr id="12" name="TextBox 11"/>
          <p:cNvSpPr txBox="1"/>
          <p:nvPr/>
        </p:nvSpPr>
        <p:spPr>
          <a:xfrm>
            <a:off x="640080" y="4005072"/>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Reproducible exports</a:t>
            </a:r>
          </a:p>
        </p:txBody>
      </p:sp>
      <p:sp>
        <p:nvSpPr>
          <p:cNvPr id="13" name="Rectangle 12"/>
          <p:cNvSpPr/>
          <p:nvPr/>
        </p:nvSpPr>
        <p:spPr>
          <a:xfrm>
            <a:off x="7498079" y="2350008"/>
            <a:ext cx="6309360" cy="11887"/>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498079" y="2542032"/>
            <a:ext cx="6309360" cy="365760"/>
          </a:xfrm>
          <a:prstGeom prst="rect">
            <a:avLst/>
          </a:prstGeom>
          <a:noFill/>
        </p:spPr>
        <p:txBody>
          <a:bodyPr wrap="square" lIns="0" rIns="0" tIns="0" bIns="0">
            <a:spAutoFit/>
          </a:bodyPr>
          <a:lstStyle/>
          <a:p>
            <a:pPr algn="l">
              <a:lnSpc>
                <a:spcPct val="112000"/>
              </a:lnSpc>
              <a:spcAft>
                <a:spcPts val="600"/>
              </a:spcAft>
              <a:defRPr sz="1400" b="1">
                <a:solidFill>
                  <a:srgbClr val="176B55"/>
                </a:solidFill>
                <a:latin typeface="Liberation Sans"/>
              </a:defRPr>
            </a:pPr>
            <a:r>
              <a:t>WEAKNESSES</a:t>
            </a:r>
          </a:p>
        </p:txBody>
      </p:sp>
      <p:sp>
        <p:nvSpPr>
          <p:cNvPr id="15" name="TextBox 14"/>
          <p:cNvSpPr txBox="1"/>
          <p:nvPr/>
        </p:nvSpPr>
        <p:spPr>
          <a:xfrm>
            <a:off x="7498079" y="3145536"/>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Incomplete frozen coverage</a:t>
            </a:r>
          </a:p>
        </p:txBody>
      </p:sp>
      <p:sp>
        <p:nvSpPr>
          <p:cNvPr id="16" name="TextBox 15"/>
          <p:cNvSpPr txBox="1"/>
          <p:nvPr/>
        </p:nvSpPr>
        <p:spPr>
          <a:xfrm>
            <a:off x="7498079" y="3575304"/>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Partial roster metadata</a:t>
            </a:r>
          </a:p>
        </p:txBody>
      </p:sp>
      <p:sp>
        <p:nvSpPr>
          <p:cNvPr id="17" name="TextBox 16"/>
          <p:cNvSpPr txBox="1"/>
          <p:nvPr/>
        </p:nvSpPr>
        <p:spPr>
          <a:xfrm>
            <a:off x="7498079" y="4005072"/>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Heuristic score weights</a:t>
            </a:r>
          </a:p>
        </p:txBody>
      </p:sp>
      <p:sp>
        <p:nvSpPr>
          <p:cNvPr id="18" name="Rectangle 17"/>
          <p:cNvSpPr/>
          <p:nvPr/>
        </p:nvSpPr>
        <p:spPr>
          <a:xfrm>
            <a:off x="640080" y="4681727"/>
            <a:ext cx="630936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0080" y="4873751"/>
            <a:ext cx="6309360" cy="365760"/>
          </a:xfrm>
          <a:prstGeom prst="rect">
            <a:avLst/>
          </a:prstGeom>
          <a:noFill/>
        </p:spPr>
        <p:txBody>
          <a:bodyPr wrap="square" lIns="0" rIns="0" tIns="0" bIns="0">
            <a:spAutoFit/>
          </a:bodyPr>
          <a:lstStyle/>
          <a:p>
            <a:pPr algn="l">
              <a:lnSpc>
                <a:spcPct val="112000"/>
              </a:lnSpc>
              <a:spcAft>
                <a:spcPts val="600"/>
              </a:spcAft>
              <a:defRPr sz="1400" b="1">
                <a:solidFill>
                  <a:srgbClr val="176B55"/>
                </a:solidFill>
                <a:latin typeface="Liberation Sans"/>
              </a:defRPr>
            </a:pPr>
            <a:r>
              <a:t>OPPORTUNITIES</a:t>
            </a:r>
          </a:p>
        </p:txBody>
      </p:sp>
      <p:sp>
        <p:nvSpPr>
          <p:cNvPr id="20" name="TextBox 19"/>
          <p:cNvSpPr txBox="1"/>
          <p:nvPr/>
        </p:nvSpPr>
        <p:spPr>
          <a:xfrm>
            <a:off x="640080" y="5477255"/>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Verified dated registry</a:t>
            </a:r>
          </a:p>
        </p:txBody>
      </p:sp>
      <p:sp>
        <p:nvSpPr>
          <p:cNvPr id="21" name="TextBox 20"/>
          <p:cNvSpPr txBox="1"/>
          <p:nvPr/>
        </p:nvSpPr>
        <p:spPr>
          <a:xfrm>
            <a:off x="640080" y="5907023"/>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Video + analyst reviews</a:t>
            </a:r>
          </a:p>
        </p:txBody>
      </p:sp>
      <p:sp>
        <p:nvSpPr>
          <p:cNvPr id="22" name="TextBox 21"/>
          <p:cNvSpPr txBox="1"/>
          <p:nvPr/>
        </p:nvSpPr>
        <p:spPr>
          <a:xfrm>
            <a:off x="640080" y="6336792"/>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Untouched tactical studies</a:t>
            </a:r>
          </a:p>
        </p:txBody>
      </p:sp>
      <p:sp>
        <p:nvSpPr>
          <p:cNvPr id="23" name="Rectangle 22"/>
          <p:cNvSpPr/>
          <p:nvPr/>
        </p:nvSpPr>
        <p:spPr>
          <a:xfrm>
            <a:off x="7498079" y="4681727"/>
            <a:ext cx="6309360" cy="11887"/>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498079" y="4873751"/>
            <a:ext cx="6309360" cy="365760"/>
          </a:xfrm>
          <a:prstGeom prst="rect">
            <a:avLst/>
          </a:prstGeom>
          <a:noFill/>
        </p:spPr>
        <p:txBody>
          <a:bodyPr wrap="square" lIns="0" rIns="0" tIns="0" bIns="0">
            <a:spAutoFit/>
          </a:bodyPr>
          <a:lstStyle/>
          <a:p>
            <a:pPr algn="l">
              <a:lnSpc>
                <a:spcPct val="112000"/>
              </a:lnSpc>
              <a:spcAft>
                <a:spcPts val="600"/>
              </a:spcAft>
              <a:defRPr sz="1400" b="1">
                <a:solidFill>
                  <a:srgbClr val="176B55"/>
                </a:solidFill>
                <a:latin typeface="Liberation Sans"/>
              </a:defRPr>
            </a:pPr>
            <a:r>
              <a:t>THREATS</a:t>
            </a:r>
          </a:p>
        </p:txBody>
      </p:sp>
      <p:sp>
        <p:nvSpPr>
          <p:cNvPr id="25" name="TextBox 24"/>
          <p:cNvSpPr txBox="1"/>
          <p:nvPr/>
        </p:nvSpPr>
        <p:spPr>
          <a:xfrm>
            <a:off x="7498079" y="5477255"/>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Stale availability</a:t>
            </a:r>
          </a:p>
        </p:txBody>
      </p:sp>
      <p:sp>
        <p:nvSpPr>
          <p:cNvPr id="26" name="TextBox 25"/>
          <p:cNvSpPr txBox="1"/>
          <p:nvPr/>
        </p:nvSpPr>
        <p:spPr>
          <a:xfrm>
            <a:off x="7498079" y="5907023"/>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Scope misinterpretation</a:t>
            </a:r>
          </a:p>
        </p:txBody>
      </p:sp>
      <p:sp>
        <p:nvSpPr>
          <p:cNvPr id="27" name="TextBox 26"/>
          <p:cNvSpPr txBox="1"/>
          <p:nvPr/>
        </p:nvSpPr>
        <p:spPr>
          <a:xfrm>
            <a:off x="7498079" y="6336792"/>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Provider or public-demo abuse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07 / NEXT RESEARCH</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What remains before professional team adoption.</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32 / 44</a:t>
            </a:r>
          </a:p>
        </p:txBody>
      </p:sp>
      <p:sp>
        <p:nvSpPr>
          <p:cNvPr id="8" name="TextBox 7"/>
          <p:cNvSpPr txBox="1"/>
          <p:nvPr/>
        </p:nvSpPr>
        <p:spPr>
          <a:xfrm>
            <a:off x="685800" y="2395728"/>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01</a:t>
            </a:r>
          </a:p>
        </p:txBody>
      </p:sp>
      <p:sp>
        <p:nvSpPr>
          <p:cNvPr id="9" name="TextBox 8"/>
          <p:cNvSpPr txBox="1"/>
          <p:nvPr/>
        </p:nvSpPr>
        <p:spPr>
          <a:xfrm>
            <a:off x="1828800" y="2414016"/>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Verify the record</a:t>
            </a:r>
          </a:p>
        </p:txBody>
      </p:sp>
      <p:sp>
        <p:nvSpPr>
          <p:cNvPr id="10" name="TextBox 9"/>
          <p:cNvSpPr txBox="1"/>
          <p:nvPr/>
        </p:nvSpPr>
        <p:spPr>
          <a:xfrm>
            <a:off x="5303520" y="2459736"/>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Fill missing scorecards and resolve primary-source conflicts.</a:t>
            </a:r>
          </a:p>
        </p:txBody>
      </p:sp>
      <p:sp>
        <p:nvSpPr>
          <p:cNvPr id="11" name="Rectangle 10"/>
          <p:cNvSpPr/>
          <p:nvPr/>
        </p:nvSpPr>
        <p:spPr>
          <a:xfrm>
            <a:off x="1828800" y="3246120"/>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3465576"/>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02</a:t>
            </a:r>
          </a:p>
        </p:txBody>
      </p:sp>
      <p:sp>
        <p:nvSpPr>
          <p:cNvPr id="13" name="TextBox 12"/>
          <p:cNvSpPr txBox="1"/>
          <p:nvPr/>
        </p:nvSpPr>
        <p:spPr>
          <a:xfrm>
            <a:off x="1828800" y="3483864"/>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Verify the roster</a:t>
            </a:r>
          </a:p>
        </p:txBody>
      </p:sp>
      <p:sp>
        <p:nvSpPr>
          <p:cNvPr id="14" name="TextBox 13"/>
          <p:cNvSpPr txBox="1"/>
          <p:nvPr/>
        </p:nvSpPr>
        <p:spPr>
          <a:xfrm>
            <a:off x="5303520" y="3529584"/>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Complete dated identities, replacements and availability.</a:t>
            </a:r>
          </a:p>
        </p:txBody>
      </p:sp>
      <p:sp>
        <p:nvSpPr>
          <p:cNvPr id="15" name="Rectangle 14"/>
          <p:cNvSpPr/>
          <p:nvPr/>
        </p:nvSpPr>
        <p:spPr>
          <a:xfrm>
            <a:off x="1828800" y="4315968"/>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85800" y="4535424"/>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03</a:t>
            </a:r>
          </a:p>
        </p:txBody>
      </p:sp>
      <p:sp>
        <p:nvSpPr>
          <p:cNvPr id="17" name="TextBox 16"/>
          <p:cNvSpPr txBox="1"/>
          <p:nvPr/>
        </p:nvSpPr>
        <p:spPr>
          <a:xfrm>
            <a:off x="1828800" y="4553712"/>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Measure usefulness</a:t>
            </a:r>
          </a:p>
        </p:txBody>
      </p:sp>
      <p:sp>
        <p:nvSpPr>
          <p:cNvPr id="18" name="TextBox 17"/>
          <p:cNvSpPr txBox="1"/>
          <p:nvPr/>
        </p:nvSpPr>
        <p:spPr>
          <a:xfrm>
            <a:off x="5303520" y="4599432"/>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Collect independent analyst ratings and tactical outcomes.</a:t>
            </a:r>
          </a:p>
        </p:txBody>
      </p:sp>
      <p:sp>
        <p:nvSpPr>
          <p:cNvPr id="19" name="Rectangle 18"/>
          <p:cNvSpPr/>
          <p:nvPr/>
        </p:nvSpPr>
        <p:spPr>
          <a:xfrm>
            <a:off x="1828800" y="5385816"/>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85800" y="5605272"/>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04</a:t>
            </a:r>
          </a:p>
        </p:txBody>
      </p:sp>
      <p:sp>
        <p:nvSpPr>
          <p:cNvPr id="21" name="TextBox 20"/>
          <p:cNvSpPr txBox="1"/>
          <p:nvPr/>
        </p:nvSpPr>
        <p:spPr>
          <a:xfrm>
            <a:off x="1828800" y="5623559"/>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Operate reliably</a:t>
            </a:r>
          </a:p>
        </p:txBody>
      </p:sp>
      <p:sp>
        <p:nvSpPr>
          <p:cNvPr id="22" name="TextBox 21"/>
          <p:cNvSpPr txBox="1"/>
          <p:nvPr/>
        </p:nvSpPr>
        <p:spPr>
          <a:xfrm>
            <a:off x="5303520" y="5669280"/>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Add authenticated storage, monitoring and hosted/API checks.</a:t>
            </a:r>
          </a:p>
        </p:txBody>
      </p:sp>
      <p:sp>
        <p:nvSpPr>
          <p:cNvPr id="23" name="Rectangle 22"/>
          <p:cNvSpPr/>
          <p:nvPr/>
        </p:nvSpPr>
        <p:spPr>
          <a:xfrm>
            <a:off x="1828800" y="6455664"/>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07 / CONTRIBUTION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deliverable is a reproducible decision process.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0"/>
            <a:ext cx="14630400" cy="8229600"/>
          </a:xfrm>
          <a:prstGeom prst="rect">
            <a:avLst/>
          </a:prstGeom>
          <a:solidFill>
            <a:srgbClr val="1018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548640"/>
            <a:ext cx="12801600" cy="365760"/>
          </a:xfrm>
          <a:prstGeom prst="rect">
            <a:avLst/>
          </a:prstGeom>
          <a:noFill/>
        </p:spPr>
        <p:txBody>
          <a:bodyPr wrap="square" lIns="0" rIns="0" tIns="0" bIns="0">
            <a:spAutoFit/>
          </a:bodyPr>
          <a:lstStyle/>
          <a:p>
            <a:pPr algn="l">
              <a:lnSpc>
                <a:spcPct val="112000"/>
              </a:lnSpc>
              <a:spcAft>
                <a:spcPts val="600"/>
              </a:spcAft>
              <a:defRPr sz="1100" b="1">
                <a:solidFill>
                  <a:srgbClr val="B8D9CE"/>
                </a:solidFill>
                <a:latin typeface="Liberation Sans"/>
              </a:defRPr>
            </a:pPr>
            <a:r>
              <a:t>RESEARCH CONTRIBUTION</a:t>
            </a:r>
          </a:p>
        </p:txBody>
      </p:sp>
      <p:sp>
        <p:nvSpPr>
          <p:cNvPr id="7" name="TextBox 6"/>
          <p:cNvSpPr txBox="1"/>
          <p:nvPr/>
        </p:nvSpPr>
        <p:spPr>
          <a:xfrm>
            <a:off x="640080" y="1508760"/>
            <a:ext cx="9144000" cy="3017520"/>
          </a:xfrm>
          <a:prstGeom prst="rect">
            <a:avLst/>
          </a:prstGeom>
          <a:noFill/>
        </p:spPr>
        <p:txBody>
          <a:bodyPr wrap="square" lIns="0" rIns="0" tIns="0" bIns="0">
            <a:spAutoFit/>
          </a:bodyPr>
          <a:lstStyle/>
          <a:p>
            <a:pPr algn="l">
              <a:lnSpc>
                <a:spcPct val="112000"/>
              </a:lnSpc>
              <a:spcAft>
                <a:spcPts val="600"/>
              </a:spcAft>
              <a:defRPr sz="4800" b="0">
                <a:solidFill>
                  <a:srgbClr val="FFFFFF"/>
                </a:solidFill>
                <a:latin typeface="Liberation Serif"/>
              </a:defRPr>
            </a:pPr>
            <a:r>
              <a:t>Evidence.</a:t>
            </a:r>
          </a:p>
          <a:p>
            <a:pPr algn="l">
              <a:lnSpc>
                <a:spcPct val="112000"/>
              </a:lnSpc>
              <a:spcAft>
                <a:spcPts val="600"/>
              </a:spcAft>
              <a:defRPr sz="4800" b="0">
                <a:solidFill>
                  <a:srgbClr val="FFFFFF"/>
                </a:solidFill>
                <a:latin typeface="Liberation Serif"/>
              </a:defRPr>
            </a:pPr>
            <a:r>
              <a:t>Constraints.</a:t>
            </a:r>
          </a:p>
          <a:p>
            <a:pPr algn="l">
              <a:lnSpc>
                <a:spcPct val="112000"/>
              </a:lnSpc>
              <a:spcAft>
                <a:spcPts val="600"/>
              </a:spcAft>
              <a:defRPr sz="4800" b="0">
                <a:solidFill>
                  <a:srgbClr val="FFFFFF"/>
                </a:solidFill>
                <a:latin typeface="Liberation Serif"/>
              </a:defRPr>
            </a:pPr>
            <a:r>
              <a:t>A decision record.</a:t>
            </a:r>
          </a:p>
        </p:txBody>
      </p:sp>
      <p:sp>
        <p:nvSpPr>
          <p:cNvPr id="8" name="TextBox 7"/>
          <p:cNvSpPr txBox="1"/>
          <p:nvPr/>
        </p:nvSpPr>
        <p:spPr>
          <a:xfrm>
            <a:off x="685800" y="5303520"/>
            <a:ext cx="12527280" cy="731520"/>
          </a:xfrm>
          <a:prstGeom prst="rect">
            <a:avLst/>
          </a:prstGeom>
          <a:noFill/>
        </p:spPr>
        <p:txBody>
          <a:bodyPr wrap="square" lIns="0" rIns="0" tIns="0" bIns="0">
            <a:spAutoFit/>
          </a:bodyPr>
          <a:lstStyle/>
          <a:p>
            <a:pPr algn="l">
              <a:lnSpc>
                <a:spcPct val="112000"/>
              </a:lnSpc>
              <a:spcAft>
                <a:spcPts val="600"/>
              </a:spcAft>
              <a:defRPr sz="2500" b="0">
                <a:solidFill>
                  <a:srgbClr val="D3DCD7"/>
                </a:solidFill>
                <a:latin typeface="Liberation Sans"/>
              </a:defRPr>
            </a:pPr>
            <a:r>
              <a:t>A practical capstone for inspectable cricket research.</a:t>
            </a:r>
          </a:p>
        </p:txBody>
      </p:sp>
      <p:sp>
        <p:nvSpPr>
          <p:cNvPr id="9" name="TextBox 8"/>
          <p:cNvSpPr txBox="1"/>
          <p:nvPr/>
        </p:nvSpPr>
        <p:spPr>
          <a:xfrm>
            <a:off x="685800" y="6446520"/>
            <a:ext cx="12527280" cy="777240"/>
          </a:xfrm>
          <a:prstGeom prst="rect">
            <a:avLst/>
          </a:prstGeom>
          <a:noFill/>
        </p:spPr>
        <p:txBody>
          <a:bodyPr wrap="square" lIns="0" rIns="0" tIns="0" bIns="0">
            <a:spAutoFit/>
          </a:bodyPr>
          <a:lstStyle/>
          <a:p>
            <a:pPr algn="l">
              <a:lnSpc>
                <a:spcPct val="112000"/>
              </a:lnSpc>
              <a:spcAft>
                <a:spcPts val="600"/>
              </a:spcAft>
              <a:defRPr sz="1900" b="0">
                <a:solidFill>
                  <a:srgbClr val="A8B8C5"/>
                </a:solidFill>
                <a:latin typeface="Liberation Sans"/>
              </a:defRPr>
            </a:pPr>
            <a:r>
              <a:t>Professional adoption still requires complete data, current roster verification and independent human review.</a:t>
            </a:r>
          </a:p>
        </p:txBody>
      </p:sp>
      <p:sp>
        <p:nvSpPr>
          <p:cNvPr id="10" name="Rectangle 9"/>
          <p:cNvSpPr/>
          <p:nvPr/>
        </p:nvSpPr>
        <p:spPr>
          <a:xfrm>
            <a:off x="640080" y="7772400"/>
            <a:ext cx="13350240" cy="11887"/>
          </a:xfrm>
          <a:prstGeom prst="rect">
            <a:avLst/>
          </a:prstGeom>
          <a:solidFill>
            <a:srgbClr val="33455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A8B8C5"/>
                </a:solidFill>
                <a:latin typeface="Liberation Sans"/>
              </a:defRPr>
            </a:pPr>
            <a:r>
              <a:t>CREASEIQ  /  CAPSTONE PROJECT  /  B.R. ABISHEK</a:t>
            </a:r>
          </a:p>
        </p:txBody>
      </p:sp>
      <p:sp>
        <p:nvSpPr>
          <p:cNvPr id="12" name="TextBox 11"/>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A8B8C5"/>
                </a:solidFill>
                <a:latin typeface="Liberation Sans"/>
              </a:defRPr>
            </a:pPr>
            <a:r>
              <a:t>v3.1.0    33 / 44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07 / DISCUSSION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Questions, demonstration and reproducibility.</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34 / 44</a:t>
            </a:r>
          </a:p>
        </p:txBody>
      </p:sp>
      <p:sp>
        <p:nvSpPr>
          <p:cNvPr id="8" name="TextBox 7"/>
          <p:cNvSpPr txBox="1"/>
          <p:nvPr/>
        </p:nvSpPr>
        <p:spPr>
          <a:xfrm>
            <a:off x="640080" y="2468880"/>
            <a:ext cx="13258800" cy="548640"/>
          </a:xfrm>
          <a:prstGeom prst="rect">
            <a:avLst/>
          </a:prstGeom>
          <a:noFill/>
        </p:spPr>
        <p:txBody>
          <a:bodyPr wrap="square" lIns="0" rIns="0" tIns="0" bIns="0">
            <a:spAutoFit/>
          </a:bodyPr>
          <a:lstStyle/>
          <a:p>
            <a:pPr algn="l">
              <a:lnSpc>
                <a:spcPct val="112000"/>
              </a:lnSpc>
              <a:spcAft>
                <a:spcPts val="600"/>
              </a:spcAft>
              <a:defRPr sz="2500" b="0">
                <a:solidFill>
                  <a:srgbClr val="182D32"/>
                </a:solidFill>
                <a:latin typeface="Liberation Serif"/>
              </a:defRPr>
            </a:pPr>
            <a:r>
              <a:t>B.R. Abishek  /  AI Driven Data Science</a:t>
            </a:r>
          </a:p>
        </p:txBody>
      </p:sp>
      <p:sp>
        <p:nvSpPr>
          <p:cNvPr id="9" name="TextBox 8"/>
          <p:cNvSpPr txBox="1"/>
          <p:nvPr/>
        </p:nvSpPr>
        <p:spPr>
          <a:xfrm>
            <a:off x="640080" y="3657600"/>
            <a:ext cx="274320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APPLICATION</a:t>
            </a:r>
          </a:p>
        </p:txBody>
      </p:sp>
      <p:sp>
        <p:nvSpPr>
          <p:cNvPr id="10" name="TextBox 9"/>
          <p:cNvSpPr txBox="1"/>
          <p:nvPr/>
        </p:nvSpPr>
        <p:spPr>
          <a:xfrm>
            <a:off x="3657600" y="3584448"/>
            <a:ext cx="9144000" cy="457200"/>
          </a:xfrm>
          <a:prstGeom prst="rect">
            <a:avLst/>
          </a:prstGeom>
          <a:noFill/>
        </p:spPr>
        <p:txBody>
          <a:bodyPr wrap="square" lIns="0" rIns="0" tIns="0" bIns="0">
            <a:spAutoFit/>
          </a:bodyPr>
          <a:lstStyle/>
          <a:p>
            <a:pPr algn="l">
              <a:lnSpc>
                <a:spcPct val="112000"/>
              </a:lnSpc>
              <a:spcAft>
                <a:spcPts val="600"/>
              </a:spcAft>
              <a:defRPr sz="2300" b="0">
                <a:solidFill>
                  <a:srgbClr val="176B55"/>
                </a:solidFill>
                <a:latin typeface="Liberation Sans"/>
              </a:defRPr>
            </a:pPr>
            <a:r>
              <a:rPr>
                <a:hlinkClick r:id="rId3"/>
              </a:rPr>
              <a:t>Open the CreaseIQ app</a:t>
            </a:r>
          </a:p>
        </p:txBody>
      </p:sp>
      <p:sp>
        <p:nvSpPr>
          <p:cNvPr id="11" name="TextBox 10"/>
          <p:cNvSpPr txBox="1"/>
          <p:nvPr/>
        </p:nvSpPr>
        <p:spPr>
          <a:xfrm>
            <a:off x="640080" y="4617720"/>
            <a:ext cx="274320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SOURCE</a:t>
            </a:r>
          </a:p>
        </p:txBody>
      </p:sp>
      <p:sp>
        <p:nvSpPr>
          <p:cNvPr id="12" name="TextBox 11"/>
          <p:cNvSpPr txBox="1"/>
          <p:nvPr/>
        </p:nvSpPr>
        <p:spPr>
          <a:xfrm>
            <a:off x="3657600" y="4553712"/>
            <a:ext cx="9875520" cy="457200"/>
          </a:xfrm>
          <a:prstGeom prst="rect">
            <a:avLst/>
          </a:prstGeom>
          <a:noFill/>
        </p:spPr>
        <p:txBody>
          <a:bodyPr wrap="square" lIns="0" rIns="0" tIns="0" bIns="0">
            <a:spAutoFit/>
          </a:bodyPr>
          <a:lstStyle/>
          <a:p>
            <a:pPr algn="l">
              <a:lnSpc>
                <a:spcPct val="112000"/>
              </a:lnSpc>
              <a:spcAft>
                <a:spcPts val="600"/>
              </a:spcAft>
              <a:defRPr sz="2200" b="0">
                <a:solidFill>
                  <a:srgbClr val="176B55"/>
                </a:solidFill>
                <a:latin typeface="Liberation Sans"/>
              </a:defRPr>
            </a:pPr>
            <a:r>
              <a:rPr>
                <a:hlinkClick r:id="rId4"/>
              </a:rPr>
              <a:t>br-abishek-07 / creaseiq-cricket-capstone</a:t>
            </a:r>
          </a:p>
        </p:txBody>
      </p:sp>
      <p:sp>
        <p:nvSpPr>
          <p:cNvPr id="13" name="TextBox 12"/>
          <p:cNvSpPr txBox="1"/>
          <p:nvPr/>
        </p:nvSpPr>
        <p:spPr>
          <a:xfrm>
            <a:off x="640080" y="5577840"/>
            <a:ext cx="274320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FROZEN RELEASE</a:t>
            </a:r>
          </a:p>
        </p:txBody>
      </p:sp>
      <p:sp>
        <p:nvSpPr>
          <p:cNvPr id="14" name="TextBox 13"/>
          <p:cNvSpPr txBox="1"/>
          <p:nvPr/>
        </p:nvSpPr>
        <p:spPr>
          <a:xfrm>
            <a:off x="3657600" y="5504688"/>
            <a:ext cx="9601200" cy="45720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v3.1.0  ·  1100cac</a:t>
            </a:r>
          </a:p>
        </p:txBody>
      </p:sp>
      <p:sp>
        <p:nvSpPr>
          <p:cNvPr id="15" name="Rectangle 14"/>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Detailed methods, formulas, safeguards and reproduction commands follow in the appendix.</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A / BATTING SCORE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Batting combines pace and dismissal risk.</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35 / 44</a:t>
            </a:r>
          </a:p>
        </p:txBody>
      </p:sp>
      <p:sp>
        <p:nvSpPr>
          <p:cNvPr id="8" name="TextBox 7"/>
          <p:cNvSpPr txBox="1"/>
          <p:nvPr/>
        </p:nvSpPr>
        <p:spPr>
          <a:xfrm>
            <a:off x="822960" y="26060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r* = (R + 120 × r₀) / (B + 120)</a:t>
            </a:r>
          </a:p>
        </p:txBody>
      </p:sp>
      <p:sp>
        <p:nvSpPr>
          <p:cNvPr id="9" name="TextBox 8"/>
          <p:cNvSpPr txBox="1"/>
          <p:nvPr/>
        </p:nvSpPr>
        <p:spPr>
          <a:xfrm>
            <a:off x="822960" y="35204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d* = (D + 120 × d₀) / (B + 120)</a:t>
            </a:r>
          </a:p>
        </p:txBody>
      </p:sp>
      <p:sp>
        <p:nvSpPr>
          <p:cNvPr id="10" name="TextBox 9"/>
          <p:cNvSpPr txBox="1"/>
          <p:nvPr/>
        </p:nvSpPr>
        <p:spPr>
          <a:xfrm>
            <a:off x="822960" y="44348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Bat score = 100(r* − r₀) − 1,800(d* − d₀)</a:t>
            </a:r>
          </a:p>
        </p:txBody>
      </p:sp>
      <p:sp>
        <p:nvSpPr>
          <p:cNvPr id="11" name="TextBox 10"/>
          <p:cNvSpPr txBox="1"/>
          <p:nvPr/>
        </p:nvSpPr>
        <p:spPr>
          <a:xfrm>
            <a:off x="822960" y="5715000"/>
            <a:ext cx="12801600" cy="822960"/>
          </a:xfrm>
          <a:prstGeom prst="rect">
            <a:avLst/>
          </a:prstGeom>
          <a:noFill/>
        </p:spPr>
        <p:txBody>
          <a:bodyPr wrap="square" lIns="0" rIns="0" tIns="0" bIns="0">
            <a:spAutoFit/>
          </a:bodyPr>
          <a:lstStyle/>
          <a:p>
            <a:pPr algn="l">
              <a:lnSpc>
                <a:spcPct val="112000"/>
              </a:lnSpc>
              <a:spcAft>
                <a:spcPts val="600"/>
              </a:spcAft>
              <a:defRPr sz="1800" b="0">
                <a:solidFill>
                  <a:srgbClr val="596B72"/>
                </a:solidFill>
                <a:latin typeface="Liberation Sans"/>
              </a:defRPr>
            </a:pPr>
            <a:r>
              <a:t>R: weighted runs   B: weighted balls   D: weighted dismissals</a:t>
            </a:r>
          </a:p>
          <a:p>
            <a:pPr algn="l">
              <a:lnSpc>
                <a:spcPct val="112000"/>
              </a:lnSpc>
              <a:spcAft>
                <a:spcPts val="600"/>
              </a:spcAft>
              <a:defRPr sz="1800" b="0">
                <a:solidFill>
                  <a:srgbClr val="596B72"/>
                </a:solidFill>
                <a:latin typeface="Liberation Sans"/>
              </a:defRPr>
            </a:pPr>
            <a:r>
              <a:t>r₀, d₀: competition/phase baseline rates</a:t>
            </a:r>
          </a:p>
        </p:txBody>
      </p:sp>
      <p:sp>
        <p:nvSpPr>
          <p:cNvPr id="12" name="Rectangle 1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Declared descriptive weights; no scientifically optimal coefficient or future-value claim.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B / BOWLING SCORE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Bowling combines control and wicket-taking.</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36 / 44</a:t>
            </a:r>
          </a:p>
        </p:txBody>
      </p:sp>
      <p:sp>
        <p:nvSpPr>
          <p:cNvPr id="8" name="TextBox 7"/>
          <p:cNvSpPr txBox="1"/>
          <p:nvPr/>
        </p:nvSpPr>
        <p:spPr>
          <a:xfrm>
            <a:off x="822960" y="26060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c* = (C + 120 × c₀) / (L + 120)</a:t>
            </a:r>
          </a:p>
        </p:txBody>
      </p:sp>
      <p:sp>
        <p:nvSpPr>
          <p:cNvPr id="9" name="TextBox 8"/>
          <p:cNvSpPr txBox="1"/>
          <p:nvPr/>
        </p:nvSpPr>
        <p:spPr>
          <a:xfrm>
            <a:off x="822960" y="35204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w* = (W + 120 × w₀) / (L + 120)</a:t>
            </a:r>
          </a:p>
        </p:txBody>
      </p:sp>
      <p:sp>
        <p:nvSpPr>
          <p:cNvPr id="10" name="TextBox 9"/>
          <p:cNvSpPr txBox="1"/>
          <p:nvPr/>
        </p:nvSpPr>
        <p:spPr>
          <a:xfrm>
            <a:off x="822960" y="44348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Bowl score = 6(c₀ − c*) + 72(w* − w₀)</a:t>
            </a:r>
          </a:p>
        </p:txBody>
      </p:sp>
      <p:sp>
        <p:nvSpPr>
          <p:cNvPr id="11" name="TextBox 10"/>
          <p:cNvSpPr txBox="1"/>
          <p:nvPr/>
        </p:nvSpPr>
        <p:spPr>
          <a:xfrm>
            <a:off x="822960" y="5715000"/>
            <a:ext cx="12801600" cy="822960"/>
          </a:xfrm>
          <a:prstGeom prst="rect">
            <a:avLst/>
          </a:prstGeom>
          <a:noFill/>
        </p:spPr>
        <p:txBody>
          <a:bodyPr wrap="square" lIns="0" rIns="0" tIns="0" bIns="0">
            <a:spAutoFit/>
          </a:bodyPr>
          <a:lstStyle/>
          <a:p>
            <a:pPr algn="l">
              <a:lnSpc>
                <a:spcPct val="112000"/>
              </a:lnSpc>
              <a:spcAft>
                <a:spcPts val="600"/>
              </a:spcAft>
              <a:defRPr sz="1800" b="0">
                <a:solidFill>
                  <a:srgbClr val="596B72"/>
                </a:solidFill>
                <a:latin typeface="Liberation Sans"/>
              </a:defRPr>
            </a:pPr>
            <a:r>
              <a:t>C: weighted conceded runs   L: weighted legal balls   W: weighted wickets</a:t>
            </a:r>
          </a:p>
          <a:p>
            <a:pPr algn="l">
              <a:lnSpc>
                <a:spcPct val="112000"/>
              </a:lnSpc>
              <a:spcAft>
                <a:spcPts val="600"/>
              </a:spcAft>
              <a:defRPr sz="1800" b="0">
                <a:solidFill>
                  <a:srgbClr val="596B72"/>
                </a:solidFill>
                <a:latin typeface="Liberation Sans"/>
              </a:defRPr>
            </a:pPr>
            <a:r>
              <a:t>c₀, w₀: competition/phase baseline rates</a:t>
            </a:r>
          </a:p>
        </p:txBody>
      </p:sp>
      <p:sp>
        <p:nvSpPr>
          <p:cNvPr id="12" name="Rectangle 1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Declared descriptive weights; no scientifically optimal coefficient or future-value claim.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C / RELIABILITY</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An evidence weight is not a probability of success.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37 / 44</a:t>
            </a:r>
          </a:p>
        </p:txBody>
      </p:sp>
      <p:sp>
        <p:nvSpPr>
          <p:cNvPr id="8" name="TextBox 7"/>
          <p:cNvSpPr txBox="1"/>
          <p:nvPr/>
        </p:nvSpPr>
        <p:spPr>
          <a:xfrm>
            <a:off x="777240" y="2560320"/>
            <a:ext cx="12984480" cy="640080"/>
          </a:xfrm>
          <a:prstGeom prst="rect">
            <a:avLst/>
          </a:prstGeom>
          <a:noFill/>
        </p:spPr>
        <p:txBody>
          <a:bodyPr wrap="square" lIns="0" rIns="0" tIns="0" bIns="0">
            <a:spAutoFit/>
          </a:bodyPr>
          <a:lstStyle/>
          <a:p>
            <a:pPr algn="l">
              <a:lnSpc>
                <a:spcPct val="112000"/>
              </a:lnSpc>
              <a:spcAft>
                <a:spcPts val="600"/>
              </a:spcAft>
              <a:defRPr sz="3000" b="0">
                <a:solidFill>
                  <a:srgbClr val="182D32"/>
                </a:solidFill>
                <a:latin typeface="Liberation Serif"/>
              </a:defRPr>
            </a:pPr>
            <a:r>
              <a:t>Recency weight = 2^(−age in days / 365)</a:t>
            </a:r>
          </a:p>
        </p:txBody>
      </p:sp>
      <p:sp>
        <p:nvSpPr>
          <p:cNvPr id="9" name="TextBox 8"/>
          <p:cNvSpPr txBox="1"/>
          <p:nvPr/>
        </p:nvSpPr>
        <p:spPr>
          <a:xfrm>
            <a:off x="777240" y="3611880"/>
            <a:ext cx="12984480" cy="777240"/>
          </a:xfrm>
          <a:prstGeom prst="rect">
            <a:avLst/>
          </a:prstGeom>
          <a:noFill/>
        </p:spPr>
        <p:txBody>
          <a:bodyPr wrap="square" lIns="0" rIns="0" tIns="0" bIns="0">
            <a:spAutoFit/>
          </a:bodyPr>
          <a:lstStyle/>
          <a:p>
            <a:pPr algn="l">
              <a:lnSpc>
                <a:spcPct val="112000"/>
              </a:lnSpc>
              <a:spcAft>
                <a:spcPts val="600"/>
              </a:spcAft>
              <a:defRPr sz="2600" b="0">
                <a:solidFill>
                  <a:srgbClr val="176B55"/>
                </a:solidFill>
                <a:latin typeface="Liberation Serif"/>
              </a:defRPr>
            </a:pPr>
            <a:r>
              <a:t>Sample weight = weighted relevant balls / (weighted relevant balls + 120)</a:t>
            </a:r>
          </a:p>
        </p:txBody>
      </p:sp>
      <p:sp>
        <p:nvSpPr>
          <p:cNvPr id="10" name="TextBox 9"/>
          <p:cNvSpPr txBox="1"/>
          <p:nvPr/>
        </p:nvSpPr>
        <p:spPr>
          <a:xfrm>
            <a:off x="777240" y="4892040"/>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1" name="TextBox 10"/>
          <p:cNvSpPr txBox="1"/>
          <p:nvPr/>
        </p:nvSpPr>
        <p:spPr>
          <a:xfrm>
            <a:off x="1088136" y="4892040"/>
            <a:ext cx="1267358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Raw display totals remain unweighted.</a:t>
            </a:r>
          </a:p>
        </p:txBody>
      </p:sp>
      <p:sp>
        <p:nvSpPr>
          <p:cNvPr id="12" name="TextBox 11"/>
          <p:cNvSpPr txBox="1"/>
          <p:nvPr/>
        </p:nvSpPr>
        <p:spPr>
          <a:xfrm>
            <a:off x="777240" y="5897879"/>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3" name="TextBox 12"/>
          <p:cNvSpPr txBox="1"/>
          <p:nvPr/>
        </p:nvSpPr>
        <p:spPr>
          <a:xfrm>
            <a:off x="1088136" y="5897879"/>
            <a:ext cx="1267358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Observed-rate intervals: 500 match-level resamples, fixed seed.</a:t>
            </a:r>
          </a:p>
        </p:txBody>
      </p:sp>
      <p:sp>
        <p:nvSpPr>
          <p:cNvPr id="14" name="TextBox 13"/>
          <p:cNvSpPr txBox="1"/>
          <p:nvPr/>
        </p:nvSpPr>
        <p:spPr>
          <a:xfrm>
            <a:off x="777240" y="6903719"/>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5" name="TextBox 14"/>
          <p:cNvSpPr txBox="1"/>
          <p:nvPr/>
        </p:nvSpPr>
        <p:spPr>
          <a:xfrm>
            <a:off x="1088136" y="6903719"/>
            <a:ext cx="1267358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At least five relevant matches; independent-match assumption.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D / OPTIMIZATION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solver’s constraints are explicit.</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38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2732827" cy="292608"/>
          </a:xfrm>
          <a:prstGeom prst="rect">
            <a:avLst/>
          </a:prstGeom>
          <a:noFill/>
        </p:spPr>
        <p:txBody>
          <a:bodyPr wrap="square" lIns="0" rIns="0" tIns="0" bIns="0">
            <a:spAutoFit/>
          </a:bodyPr>
          <a:lstStyle/>
          <a:p>
            <a:pPr algn="l">
              <a:lnSpc>
                <a:spcPct val="112000"/>
              </a:lnSpc>
              <a:spcAft>
                <a:spcPts val="600"/>
              </a:spcAft>
              <a:defRPr sz="1700" b="1">
                <a:solidFill>
                  <a:srgbClr val="FFFFFF"/>
                </a:solidFill>
                <a:latin typeface="Liberation Sans"/>
              </a:defRPr>
            </a:pPr>
            <a:r>
              <a:t>Object</a:t>
            </a:r>
          </a:p>
        </p:txBody>
      </p:sp>
      <p:sp>
        <p:nvSpPr>
          <p:cNvPr id="10" name="TextBox 9"/>
          <p:cNvSpPr txBox="1"/>
          <p:nvPr/>
        </p:nvSpPr>
        <p:spPr>
          <a:xfrm>
            <a:off x="3775243" y="2551176"/>
            <a:ext cx="10105348" cy="292608"/>
          </a:xfrm>
          <a:prstGeom prst="rect">
            <a:avLst/>
          </a:prstGeom>
          <a:noFill/>
        </p:spPr>
        <p:txBody>
          <a:bodyPr wrap="square" lIns="0" rIns="0" tIns="0" bIns="0">
            <a:spAutoFit/>
          </a:bodyPr>
          <a:lstStyle/>
          <a:p>
            <a:pPr algn="l">
              <a:lnSpc>
                <a:spcPct val="112000"/>
              </a:lnSpc>
              <a:spcAft>
                <a:spcPts val="600"/>
              </a:spcAft>
              <a:defRPr sz="1700" b="1">
                <a:solidFill>
                  <a:srgbClr val="FFFFFF"/>
                </a:solidFill>
                <a:latin typeface="Liberation Sans"/>
              </a:defRPr>
            </a:pPr>
            <a:r>
              <a:t>Constraint</a:t>
            </a:r>
          </a:p>
        </p:txBody>
      </p:sp>
      <p:sp>
        <p:nvSpPr>
          <p:cNvPr id="11" name="Rectangle 10"/>
          <p:cNvSpPr/>
          <p:nvPr/>
        </p:nvSpPr>
        <p:spPr>
          <a:xfrm>
            <a:off x="640080" y="2953512"/>
            <a:ext cx="13350240" cy="6400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Selection xᵢ</a:t>
            </a:r>
          </a:p>
        </p:txBody>
      </p:sp>
      <p:sp>
        <p:nvSpPr>
          <p:cNvPr id="13" name="TextBox 12"/>
          <p:cNvSpPr txBox="1"/>
          <p:nvPr/>
        </p:nvSpPr>
        <p:spPr>
          <a:xfrm>
            <a:off x="3775243" y="3081528"/>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Σxᵢ = 11; keeper, overseas, role, lock and exclusion rules</a:t>
            </a:r>
          </a:p>
        </p:txBody>
      </p:sp>
      <p:sp>
        <p:nvSpPr>
          <p:cNvPr id="14" name="Rectangle 13"/>
          <p:cNvSpPr/>
          <p:nvPr/>
        </p:nvSpPr>
        <p:spPr>
          <a:xfrm>
            <a:off x="640080" y="3593591"/>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593591"/>
            <a:ext cx="13350240" cy="64008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721607"/>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Assignment yᵢₒ</a:t>
            </a:r>
          </a:p>
        </p:txBody>
      </p:sp>
      <p:sp>
        <p:nvSpPr>
          <p:cNvPr id="17" name="TextBox 16"/>
          <p:cNvSpPr txBox="1"/>
          <p:nvPr/>
        </p:nvSpPr>
        <p:spPr>
          <a:xfrm>
            <a:off x="3775243" y="3721607"/>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Σᵢyᵢₒ = 1 for each over; yᵢₒ ≤ xᵢ</a:t>
            </a:r>
          </a:p>
        </p:txBody>
      </p:sp>
      <p:sp>
        <p:nvSpPr>
          <p:cNvPr id="18" name="Rectangle 17"/>
          <p:cNvSpPr/>
          <p:nvPr/>
        </p:nvSpPr>
        <p:spPr>
          <a:xfrm>
            <a:off x="640080" y="42336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233672"/>
            <a:ext cx="13350240" cy="6400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361688"/>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Workload</a:t>
            </a:r>
          </a:p>
        </p:txBody>
      </p:sp>
      <p:sp>
        <p:nvSpPr>
          <p:cNvPr id="21" name="TextBox 20"/>
          <p:cNvSpPr txBox="1"/>
          <p:nvPr/>
        </p:nvSpPr>
        <p:spPr>
          <a:xfrm>
            <a:off x="3775243" y="4361688"/>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Σₒyᵢₒ ≤ capacityᵢ ≤ 4; corresponding phase caps</a:t>
            </a:r>
          </a:p>
        </p:txBody>
      </p:sp>
      <p:sp>
        <p:nvSpPr>
          <p:cNvPr id="22" name="Rectangle 21"/>
          <p:cNvSpPr/>
          <p:nvPr/>
        </p:nvSpPr>
        <p:spPr>
          <a:xfrm>
            <a:off x="640080" y="487375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4873752"/>
            <a:ext cx="13350240" cy="64008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5001768"/>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Consecutive overs</a:t>
            </a:r>
          </a:p>
        </p:txBody>
      </p:sp>
      <p:sp>
        <p:nvSpPr>
          <p:cNvPr id="25" name="TextBox 24"/>
          <p:cNvSpPr txBox="1"/>
          <p:nvPr/>
        </p:nvSpPr>
        <p:spPr>
          <a:xfrm>
            <a:off x="3775243" y="5001768"/>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yᵢₒ + yᵢ,ₒ₊₁ ≤ 1</a:t>
            </a:r>
          </a:p>
        </p:txBody>
      </p:sp>
      <p:sp>
        <p:nvSpPr>
          <p:cNvPr id="26" name="Rectangle 25"/>
          <p:cNvSpPr/>
          <p:nvPr/>
        </p:nvSpPr>
        <p:spPr>
          <a:xfrm>
            <a:off x="640080" y="551383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5513831"/>
            <a:ext cx="13350240" cy="6400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641847"/>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Assumed budget</a:t>
            </a:r>
          </a:p>
        </p:txBody>
      </p:sp>
      <p:sp>
        <p:nvSpPr>
          <p:cNvPr id="29" name="TextBox 28"/>
          <p:cNvSpPr txBox="1"/>
          <p:nvPr/>
        </p:nvSpPr>
        <p:spPr>
          <a:xfrm>
            <a:off x="3775243" y="5641847"/>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Σ priceᵢ × xᵢ ≤ budget, when enabled</a:t>
            </a:r>
          </a:p>
        </p:txBody>
      </p:sp>
      <p:sp>
        <p:nvSpPr>
          <p:cNvPr id="30" name="Rectangle 29"/>
          <p:cNvSpPr/>
          <p:nvPr/>
        </p:nvSpPr>
        <p:spPr>
          <a:xfrm>
            <a:off x="640080" y="61539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Stage 1: maximize Σ utilityᵢ × xᵢ. Stage 2: improve the schedule for the fixed XI.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E / DATA CONTRACTS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schema keeps evidence and assumptions apart.</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39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4035116"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Input / artifact</a:t>
            </a:r>
          </a:p>
        </p:txBody>
      </p:sp>
      <p:sp>
        <p:nvSpPr>
          <p:cNvPr id="10" name="TextBox 9"/>
          <p:cNvSpPr txBox="1"/>
          <p:nvPr/>
        </p:nvSpPr>
        <p:spPr>
          <a:xfrm>
            <a:off x="5077532" y="2551176"/>
            <a:ext cx="8803059"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Grain and responsibility</a:t>
            </a:r>
          </a:p>
        </p:txBody>
      </p:sp>
      <p:sp>
        <p:nvSpPr>
          <p:cNvPr id="11" name="Rectangle 10"/>
          <p:cNvSpPr/>
          <p:nvPr/>
        </p:nvSpPr>
        <p:spPr>
          <a:xfrm>
            <a:off x="640080" y="29535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match_players.csv.gz</a:t>
            </a:r>
          </a:p>
        </p:txBody>
      </p:sp>
      <p:sp>
        <p:nvSpPr>
          <p:cNvPr id="13" name="TextBox 12"/>
          <p:cNvSpPr txBox="1"/>
          <p:nvPr/>
        </p:nvSpPr>
        <p:spPr>
          <a:xfrm>
            <a:off x="5077532" y="30815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One row per match ID + player ID; full and phase totals</a:t>
            </a:r>
          </a:p>
        </p:txBody>
      </p:sp>
      <p:sp>
        <p:nvSpPr>
          <p:cNvPr id="14" name="Rectangle 13"/>
          <p:cNvSpPr/>
          <p:nvPr/>
        </p:nvSpPr>
        <p:spPr>
          <a:xfrm>
            <a:off x="640080" y="36393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639312"/>
            <a:ext cx="13350240" cy="6858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7673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matches.csv.gz</a:t>
            </a:r>
          </a:p>
        </p:txBody>
      </p:sp>
      <p:sp>
        <p:nvSpPr>
          <p:cNvPr id="17" name="TextBox 16"/>
          <p:cNvSpPr txBox="1"/>
          <p:nvPr/>
        </p:nvSpPr>
        <p:spPr>
          <a:xfrm>
            <a:off x="5077532" y="37673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Match dates, competition, teams, venue, toss and result</a:t>
            </a:r>
          </a:p>
        </p:txBody>
      </p:sp>
      <p:sp>
        <p:nvSpPr>
          <p:cNvPr id="18" name="Rectangle 17"/>
          <p:cNvSpPr/>
          <p:nvPr/>
        </p:nvSpPr>
        <p:spPr>
          <a:xfrm>
            <a:off x="640080" y="43251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3251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4531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player_registry.json</a:t>
            </a:r>
          </a:p>
        </p:txBody>
      </p:sp>
      <p:sp>
        <p:nvSpPr>
          <p:cNvPr id="21" name="TextBox 20"/>
          <p:cNvSpPr txBox="1"/>
          <p:nvPr/>
        </p:nvSpPr>
        <p:spPr>
          <a:xfrm>
            <a:off x="5077532" y="44531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Names, aliases, IDs and selected reviewed metadata</a:t>
            </a:r>
          </a:p>
        </p:txBody>
      </p:sp>
      <p:sp>
        <p:nvSpPr>
          <p:cNvPr id="22" name="Rectangle 21"/>
          <p:cNvSpPr/>
          <p:nvPr/>
        </p:nvSpPr>
        <p:spPr>
          <a:xfrm>
            <a:off x="640080" y="50109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5010912"/>
            <a:ext cx="13350240" cy="6858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51389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squads + dated events/status</a:t>
            </a:r>
          </a:p>
        </p:txBody>
      </p:sp>
      <p:sp>
        <p:nvSpPr>
          <p:cNvPr id="25" name="TextBox 24"/>
          <p:cNvSpPr txBox="1"/>
          <p:nvPr/>
        </p:nvSpPr>
        <p:spPr>
          <a:xfrm>
            <a:off x="5077532" y="51389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Research pool and sourced planning restrictions</a:t>
            </a:r>
          </a:p>
        </p:txBody>
      </p:sp>
      <p:sp>
        <p:nvSpPr>
          <p:cNvPr id="26" name="Rectangle 25"/>
          <p:cNvSpPr/>
          <p:nvPr/>
        </p:nvSpPr>
        <p:spPr>
          <a:xfrm>
            <a:off x="640080" y="56967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56967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8247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model / audit / benchmark artifacts</a:t>
            </a:r>
          </a:p>
        </p:txBody>
      </p:sp>
      <p:sp>
        <p:nvSpPr>
          <p:cNvPr id="29" name="TextBox 28"/>
          <p:cNvSpPr txBox="1"/>
          <p:nvPr/>
        </p:nvSpPr>
        <p:spPr>
          <a:xfrm>
            <a:off x="5077532" y="58247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Evaluation outputs separated from source evidence</a:t>
            </a:r>
          </a:p>
        </p:txBody>
      </p:sp>
      <p:sp>
        <p:nvSpPr>
          <p:cNvPr id="30" name="Rectangle 29"/>
          <p:cNvSpPr/>
          <p:nvPr/>
        </p:nvSpPr>
        <p:spPr>
          <a:xfrm>
            <a:off x="640080" y="63825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F / IMPLEMENTATION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small stack with clear responsibilities.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40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4321193" cy="292608"/>
          </a:xfrm>
          <a:prstGeom prst="rect">
            <a:avLst/>
          </a:prstGeom>
          <a:noFill/>
        </p:spPr>
        <p:txBody>
          <a:bodyPr wrap="square" lIns="0" rIns="0" tIns="0" bIns="0">
            <a:spAutoFit/>
          </a:bodyPr>
          <a:lstStyle/>
          <a:p>
            <a:pPr algn="l">
              <a:lnSpc>
                <a:spcPct val="112000"/>
              </a:lnSpc>
              <a:spcAft>
                <a:spcPts val="600"/>
              </a:spcAft>
              <a:defRPr sz="1500" b="1">
                <a:solidFill>
                  <a:srgbClr val="FFFFFF"/>
                </a:solidFill>
                <a:latin typeface="Liberation Sans"/>
              </a:defRPr>
            </a:pPr>
            <a:r>
              <a:t>File / module</a:t>
            </a:r>
          </a:p>
        </p:txBody>
      </p:sp>
      <p:sp>
        <p:nvSpPr>
          <p:cNvPr id="10" name="TextBox 9"/>
          <p:cNvSpPr txBox="1"/>
          <p:nvPr/>
        </p:nvSpPr>
        <p:spPr>
          <a:xfrm>
            <a:off x="5363609" y="2551176"/>
            <a:ext cx="8516982" cy="292608"/>
          </a:xfrm>
          <a:prstGeom prst="rect">
            <a:avLst/>
          </a:prstGeom>
          <a:noFill/>
        </p:spPr>
        <p:txBody>
          <a:bodyPr wrap="square" lIns="0" rIns="0" tIns="0" bIns="0">
            <a:spAutoFit/>
          </a:bodyPr>
          <a:lstStyle/>
          <a:p>
            <a:pPr algn="l">
              <a:lnSpc>
                <a:spcPct val="112000"/>
              </a:lnSpc>
              <a:spcAft>
                <a:spcPts val="600"/>
              </a:spcAft>
              <a:defRPr sz="1500" b="1">
                <a:solidFill>
                  <a:srgbClr val="FFFFFF"/>
                </a:solidFill>
                <a:latin typeface="Liberation Sans"/>
              </a:defRPr>
            </a:pPr>
            <a:r>
              <a:t>Responsibility</a:t>
            </a:r>
          </a:p>
        </p:txBody>
      </p:sp>
      <p:sp>
        <p:nvSpPr>
          <p:cNvPr id="11" name="Rectangle 10"/>
          <p:cNvSpPr/>
          <p:nvPr/>
        </p:nvSpPr>
        <p:spPr>
          <a:xfrm>
            <a:off x="640080" y="2953512"/>
            <a:ext cx="13350240" cy="5760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app.py + creaseiq_runtime.py</a:t>
            </a:r>
          </a:p>
        </p:txBody>
      </p:sp>
      <p:sp>
        <p:nvSpPr>
          <p:cNvPr id="13" name="TextBox 12"/>
          <p:cNvSpPr txBox="1"/>
          <p:nvPr/>
        </p:nvSpPr>
        <p:spPr>
          <a:xfrm>
            <a:off x="5363609" y="3081528"/>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Streamlit workflow + coherent versioned runtime loading</a:t>
            </a:r>
          </a:p>
        </p:txBody>
      </p:sp>
      <p:sp>
        <p:nvSpPr>
          <p:cNvPr id="14" name="Rectangle 13"/>
          <p:cNvSpPr/>
          <p:nvPr/>
        </p:nvSpPr>
        <p:spPr>
          <a:xfrm>
            <a:off x="640080" y="3529584"/>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529584"/>
            <a:ext cx="13350240" cy="57607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657600"/>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analytics.py</a:t>
            </a:r>
          </a:p>
        </p:txBody>
      </p:sp>
      <p:sp>
        <p:nvSpPr>
          <p:cNvPr id="17" name="TextBox 16"/>
          <p:cNvSpPr txBox="1"/>
          <p:nvPr/>
        </p:nvSpPr>
        <p:spPr>
          <a:xfrm>
            <a:off x="5363609" y="3657600"/>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Scouting, workload support, constrained XI + validation</a:t>
            </a:r>
          </a:p>
        </p:txBody>
      </p:sp>
      <p:sp>
        <p:nvSpPr>
          <p:cNvPr id="18" name="Rectangle 17"/>
          <p:cNvSpPr/>
          <p:nvPr/>
        </p:nvSpPr>
        <p:spPr>
          <a:xfrm>
            <a:off x="640080" y="4105656"/>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105656"/>
            <a:ext cx="13350240" cy="5760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233672"/>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agent.py</a:t>
            </a:r>
          </a:p>
        </p:txBody>
      </p:sp>
      <p:sp>
        <p:nvSpPr>
          <p:cNvPr id="21" name="TextBox 20"/>
          <p:cNvSpPr txBox="1"/>
          <p:nvPr/>
        </p:nvSpPr>
        <p:spPr>
          <a:xfrm>
            <a:off x="5363609" y="4233672"/>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Task checks, permitted tools, fact IDs, provider selection</a:t>
            </a:r>
          </a:p>
        </p:txBody>
      </p:sp>
      <p:sp>
        <p:nvSpPr>
          <p:cNvPr id="22" name="Rectangle 21"/>
          <p:cNvSpPr/>
          <p:nvPr/>
        </p:nvSpPr>
        <p:spPr>
          <a:xfrm>
            <a:off x="640080" y="4681728"/>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4681728"/>
            <a:ext cx="13350240" cy="57607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4809744"/>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prediction.py</a:t>
            </a:r>
          </a:p>
        </p:txBody>
      </p:sp>
      <p:sp>
        <p:nvSpPr>
          <p:cNvPr id="25" name="TextBox 24"/>
          <p:cNvSpPr txBox="1"/>
          <p:nvPr/>
        </p:nvSpPr>
        <p:spPr>
          <a:xfrm>
            <a:off x="5363609" y="4809744"/>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Chronological research model and baseline serving</a:t>
            </a:r>
          </a:p>
        </p:txBody>
      </p:sp>
      <p:sp>
        <p:nvSpPr>
          <p:cNvPr id="26" name="Rectangle 25"/>
          <p:cNvSpPr/>
          <p:nvPr/>
        </p:nvSpPr>
        <p:spPr>
          <a:xfrm>
            <a:off x="640080" y="52578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5257800"/>
            <a:ext cx="13350240" cy="5760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385816"/>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evidence.py + storage.py</a:t>
            </a:r>
          </a:p>
        </p:txBody>
      </p:sp>
      <p:sp>
        <p:nvSpPr>
          <p:cNvPr id="29" name="TextBox 28"/>
          <p:cNvSpPr txBox="1"/>
          <p:nvPr/>
        </p:nvSpPr>
        <p:spPr>
          <a:xfrm>
            <a:off x="5363609" y="5385816"/>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Context/source fingerprints; scoped journal/cache/allowance</a:t>
            </a:r>
          </a:p>
        </p:txBody>
      </p:sp>
      <p:sp>
        <p:nvSpPr>
          <p:cNvPr id="30" name="Rectangle 29"/>
          <p:cNvSpPr/>
          <p:nvPr/>
        </p:nvSpPr>
        <p:spPr>
          <a:xfrm>
            <a:off x="640080" y="58338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40080" y="5833872"/>
            <a:ext cx="13350240" cy="57607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86384" y="5961888"/>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branding.py + downloads.py</a:t>
            </a:r>
          </a:p>
        </p:txBody>
      </p:sp>
      <p:sp>
        <p:nvSpPr>
          <p:cNvPr id="33" name="TextBox 32"/>
          <p:cNvSpPr txBox="1"/>
          <p:nvPr/>
        </p:nvSpPr>
        <p:spPr>
          <a:xfrm>
            <a:off x="5363609" y="5961888"/>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Franchise appearance; allowlisted source download</a:t>
            </a:r>
          </a:p>
        </p:txBody>
      </p:sp>
      <p:sp>
        <p:nvSpPr>
          <p:cNvPr id="34" name="Rectangle 33"/>
          <p:cNvSpPr/>
          <p:nvPr/>
        </p:nvSpPr>
        <p:spPr>
          <a:xfrm>
            <a:off x="640080" y="6409944"/>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G / RELIABILITY CONTROLS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Reject unsupported claims; preserve checked evidence.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41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Before a provider call</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Reject conflicting controls and unsupported attributes.</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Reserve request allowance atomically.</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Send only the question, context and supplied fact IDs.</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After the response</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Validate JSON, IDs and required completeness.</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Reject model prose, tools and unsupported values.</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Use a labeled local fallback when selection fails.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H / REPRODUCE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evidence can be rerun.</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42 / 44</a:t>
            </a:r>
          </a:p>
        </p:txBody>
      </p:sp>
      <p:sp>
        <p:nvSpPr>
          <p:cNvPr id="8" name="TextBox 7"/>
          <p:cNvSpPr txBox="1"/>
          <p:nvPr/>
        </p:nvSpPr>
        <p:spPr>
          <a:xfrm>
            <a:off x="685800" y="2331720"/>
            <a:ext cx="12801600" cy="320040"/>
          </a:xfrm>
          <a:prstGeom prst="rect">
            <a:avLst/>
          </a:prstGeom>
          <a:noFill/>
        </p:spPr>
        <p:txBody>
          <a:bodyPr wrap="square" lIns="0" rIns="0" tIns="0" bIns="0">
            <a:spAutoFit/>
          </a:bodyPr>
          <a:lstStyle/>
          <a:p>
            <a:pPr algn="l">
              <a:lnSpc>
                <a:spcPct val="112000"/>
              </a:lnSpc>
              <a:spcAft>
                <a:spcPts val="600"/>
              </a:spcAft>
              <a:defRPr sz="1500" b="1">
                <a:solidFill>
                  <a:srgbClr val="176B55"/>
                </a:solidFill>
                <a:latin typeface="Liberation Sans"/>
              </a:defRPr>
            </a:pPr>
            <a:r>
              <a:t>Core regression suite</a:t>
            </a:r>
          </a:p>
        </p:txBody>
      </p:sp>
      <p:sp>
        <p:nvSpPr>
          <p:cNvPr id="9" name="TextBox 8"/>
          <p:cNvSpPr txBox="1"/>
          <p:nvPr/>
        </p:nvSpPr>
        <p:spPr>
          <a:xfrm>
            <a:off x="685800" y="2761487"/>
            <a:ext cx="13075920" cy="685800"/>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Mono"/>
              </a:defRPr>
            </a:pPr>
            <a:r>
              <a:t>python -m unittest discover -s tests -v</a:t>
            </a:r>
          </a:p>
        </p:txBody>
      </p:sp>
      <p:sp>
        <p:nvSpPr>
          <p:cNvPr id="10" name="TextBox 9"/>
          <p:cNvSpPr txBox="1"/>
          <p:nvPr/>
        </p:nvSpPr>
        <p:spPr>
          <a:xfrm>
            <a:off x="685800" y="3520439"/>
            <a:ext cx="12801600" cy="320040"/>
          </a:xfrm>
          <a:prstGeom prst="rect">
            <a:avLst/>
          </a:prstGeom>
          <a:noFill/>
        </p:spPr>
        <p:txBody>
          <a:bodyPr wrap="square" lIns="0" rIns="0" tIns="0" bIns="0">
            <a:spAutoFit/>
          </a:bodyPr>
          <a:lstStyle/>
          <a:p>
            <a:pPr algn="l">
              <a:lnSpc>
                <a:spcPct val="112000"/>
              </a:lnSpc>
              <a:spcAft>
                <a:spcPts val="600"/>
              </a:spcAft>
              <a:defRPr sz="1500" b="1">
                <a:solidFill>
                  <a:srgbClr val="176B55"/>
                </a:solidFill>
                <a:latin typeface="Liberation Sans"/>
              </a:defRPr>
            </a:pPr>
            <a:r>
              <a:t>Expanded workflow + all-dossier audit</a:t>
            </a:r>
          </a:p>
        </p:txBody>
      </p:sp>
      <p:sp>
        <p:nvSpPr>
          <p:cNvPr id="11" name="TextBox 10"/>
          <p:cNvSpPr txBox="1"/>
          <p:nvPr/>
        </p:nvSpPr>
        <p:spPr>
          <a:xfrm>
            <a:off x="685800" y="3950207"/>
            <a:ext cx="13075920" cy="685800"/>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Mono"/>
              </a:defRPr>
            </a:pPr>
            <a:r>
              <a:t>python tools/check_workflows.py --output work/audit</a:t>
            </a:r>
          </a:p>
          <a:p>
            <a:pPr algn="l">
              <a:lnSpc>
                <a:spcPct val="112000"/>
              </a:lnSpc>
              <a:spcAft>
                <a:spcPts val="600"/>
              </a:spcAft>
              <a:defRPr sz="1700" b="0">
                <a:solidFill>
                  <a:srgbClr val="182D32"/>
                </a:solidFill>
                <a:latin typeface="Liberation Mono"/>
              </a:defRPr>
            </a:pPr>
            <a:r>
              <a:t>python tools/check_all_dossiers.py --output work/audit</a:t>
            </a:r>
          </a:p>
        </p:txBody>
      </p:sp>
      <p:sp>
        <p:nvSpPr>
          <p:cNvPr id="12" name="TextBox 11"/>
          <p:cNvSpPr txBox="1"/>
          <p:nvPr/>
        </p:nvSpPr>
        <p:spPr>
          <a:xfrm>
            <a:off x="685800" y="4709160"/>
            <a:ext cx="12801600" cy="320040"/>
          </a:xfrm>
          <a:prstGeom prst="rect">
            <a:avLst/>
          </a:prstGeom>
          <a:noFill/>
        </p:spPr>
        <p:txBody>
          <a:bodyPr wrap="square" lIns="0" rIns="0" tIns="0" bIns="0">
            <a:spAutoFit/>
          </a:bodyPr>
          <a:lstStyle/>
          <a:p>
            <a:pPr algn="l">
              <a:lnSpc>
                <a:spcPct val="112000"/>
              </a:lnSpc>
              <a:spcAft>
                <a:spcPts val="600"/>
              </a:spcAft>
              <a:defRPr sz="1500" b="1">
                <a:solidFill>
                  <a:srgbClr val="176B55"/>
                </a:solidFill>
                <a:latin typeface="Liberation Sans"/>
              </a:defRPr>
            </a:pPr>
            <a:r>
              <a:t>Official numeric sample (dated transcription)</a:t>
            </a:r>
          </a:p>
        </p:txBody>
      </p:sp>
      <p:sp>
        <p:nvSpPr>
          <p:cNvPr id="13" name="TextBox 12"/>
          <p:cNvSpPr txBox="1"/>
          <p:nvPr/>
        </p:nvSpPr>
        <p:spPr>
          <a:xfrm>
            <a:off x="685800" y="5138928"/>
            <a:ext cx="13075920" cy="685800"/>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Mono"/>
              </a:defRPr>
            </a:pPr>
            <a:r>
              <a:t>python tools/compare_official_checkpoints.py --output work/audit</a:t>
            </a:r>
          </a:p>
        </p:txBody>
      </p:sp>
      <p:sp>
        <p:nvSpPr>
          <p:cNvPr id="14" name="TextBox 13"/>
          <p:cNvSpPr txBox="1"/>
          <p:nvPr/>
        </p:nvSpPr>
        <p:spPr>
          <a:xfrm>
            <a:off x="685800" y="5897880"/>
            <a:ext cx="12801600" cy="320040"/>
          </a:xfrm>
          <a:prstGeom prst="rect">
            <a:avLst/>
          </a:prstGeom>
          <a:noFill/>
        </p:spPr>
        <p:txBody>
          <a:bodyPr wrap="square" lIns="0" rIns="0" tIns="0" bIns="0">
            <a:spAutoFit/>
          </a:bodyPr>
          <a:lstStyle/>
          <a:p>
            <a:pPr algn="l">
              <a:lnSpc>
                <a:spcPct val="112000"/>
              </a:lnSpc>
              <a:spcAft>
                <a:spcPts val="600"/>
              </a:spcAft>
              <a:defRPr sz="1500" b="1">
                <a:solidFill>
                  <a:srgbClr val="176B55"/>
                </a:solidFill>
                <a:latin typeface="Liberation Sans"/>
              </a:defRPr>
            </a:pPr>
            <a:r>
              <a:t>Raw reconciliation (exact five archives needed)</a:t>
            </a:r>
          </a:p>
        </p:txBody>
      </p:sp>
      <p:sp>
        <p:nvSpPr>
          <p:cNvPr id="15" name="TextBox 14"/>
          <p:cNvSpPr txBox="1"/>
          <p:nvPr/>
        </p:nvSpPr>
        <p:spPr>
          <a:xfrm>
            <a:off x="685800" y="6327648"/>
            <a:ext cx="13075920" cy="685800"/>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Mono"/>
              </a:defRPr>
            </a:pPr>
            <a:r>
              <a:t>python tools/verify_raw.py --source /path/to/raw-data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I / REFERENCES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Trace the methods and the source claims.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43 / 44</a:t>
            </a:r>
          </a:p>
        </p:txBody>
      </p:sp>
      <p:sp>
        <p:nvSpPr>
          <p:cNvPr id="8" name="TextBox 7"/>
          <p:cNvSpPr txBox="1"/>
          <p:nvPr/>
        </p:nvSpPr>
        <p:spPr>
          <a:xfrm>
            <a:off x="685800" y="2377440"/>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01</a:t>
            </a:r>
          </a:p>
        </p:txBody>
      </p:sp>
      <p:sp>
        <p:nvSpPr>
          <p:cNvPr id="9" name="TextBox 8"/>
          <p:cNvSpPr txBox="1"/>
          <p:nvPr/>
        </p:nvSpPr>
        <p:spPr>
          <a:xfrm>
            <a:off x="1371600" y="2377440"/>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3"/>
              </a:rPr>
              <a:t>Released implementation and methods</a:t>
            </a:r>
          </a:p>
        </p:txBody>
      </p:sp>
      <p:sp>
        <p:nvSpPr>
          <p:cNvPr id="10" name="TextBox 9"/>
          <p:cNvSpPr txBox="1"/>
          <p:nvPr/>
        </p:nvSpPr>
        <p:spPr>
          <a:xfrm>
            <a:off x="685800" y="3008376"/>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02</a:t>
            </a:r>
          </a:p>
        </p:txBody>
      </p:sp>
      <p:sp>
        <p:nvSpPr>
          <p:cNvPr id="11" name="TextBox 10"/>
          <p:cNvSpPr txBox="1"/>
          <p:nvPr/>
        </p:nvSpPr>
        <p:spPr>
          <a:xfrm>
            <a:off x="1371600" y="3008376"/>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4"/>
              </a:rPr>
              <a:t>Cricsheet archive source</a:t>
            </a:r>
          </a:p>
        </p:txBody>
      </p:sp>
      <p:sp>
        <p:nvSpPr>
          <p:cNvPr id="12" name="TextBox 11"/>
          <p:cNvSpPr txBox="1"/>
          <p:nvPr/>
        </p:nvSpPr>
        <p:spPr>
          <a:xfrm>
            <a:off x="685800" y="3639312"/>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03</a:t>
            </a:r>
          </a:p>
        </p:txBody>
      </p:sp>
      <p:sp>
        <p:nvSpPr>
          <p:cNvPr id="13" name="TextBox 12"/>
          <p:cNvSpPr txBox="1"/>
          <p:nvPr/>
        </p:nvSpPr>
        <p:spPr>
          <a:xfrm>
            <a:off x="1371600" y="3639312"/>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5"/>
              </a:rPr>
              <a:t>Primary numerical checkpoints</a:t>
            </a:r>
          </a:p>
        </p:txBody>
      </p:sp>
      <p:sp>
        <p:nvSpPr>
          <p:cNvPr id="14" name="TextBox 13"/>
          <p:cNvSpPr txBox="1"/>
          <p:nvPr/>
        </p:nvSpPr>
        <p:spPr>
          <a:xfrm>
            <a:off x="685800" y="4270248"/>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04</a:t>
            </a:r>
          </a:p>
        </p:txBody>
      </p:sp>
      <p:sp>
        <p:nvSpPr>
          <p:cNvPr id="15" name="TextBox 14"/>
          <p:cNvSpPr txBox="1"/>
          <p:nvPr/>
        </p:nvSpPr>
        <p:spPr>
          <a:xfrm>
            <a:off x="1371600" y="4270248"/>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6"/>
              </a:rPr>
              <a:t>Data and asset provenance</a:t>
            </a:r>
          </a:p>
        </p:txBody>
      </p:sp>
      <p:sp>
        <p:nvSpPr>
          <p:cNvPr id="16" name="TextBox 15"/>
          <p:cNvSpPr txBox="1"/>
          <p:nvPr/>
        </p:nvSpPr>
        <p:spPr>
          <a:xfrm>
            <a:off x="685800" y="4901183"/>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05</a:t>
            </a:r>
          </a:p>
        </p:txBody>
      </p:sp>
      <p:sp>
        <p:nvSpPr>
          <p:cNvPr id="17" name="TextBox 16"/>
          <p:cNvSpPr txBox="1"/>
          <p:nvPr/>
        </p:nvSpPr>
        <p:spPr>
          <a:xfrm>
            <a:off x="1371600" y="4901183"/>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7"/>
              </a:rPr>
              <a:t>Independent accuracy audit</a:t>
            </a:r>
          </a:p>
        </p:txBody>
      </p:sp>
      <p:sp>
        <p:nvSpPr>
          <p:cNvPr id="18" name="TextBox 17"/>
          <p:cNvSpPr txBox="1"/>
          <p:nvPr/>
        </p:nvSpPr>
        <p:spPr>
          <a:xfrm>
            <a:off x="685800" y="5532120"/>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06</a:t>
            </a:r>
          </a:p>
        </p:txBody>
      </p:sp>
      <p:sp>
        <p:nvSpPr>
          <p:cNvPr id="19" name="TextBox 18"/>
          <p:cNvSpPr txBox="1"/>
          <p:nvPr/>
        </p:nvSpPr>
        <p:spPr>
          <a:xfrm>
            <a:off x="1371600" y="5532120"/>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8"/>
              </a:rPr>
              <a:t>Technology references</a:t>
            </a:r>
          </a:p>
        </p:txBody>
      </p:sp>
      <p:sp>
        <p:nvSpPr>
          <p:cNvPr id="20" name="TextBox 19"/>
          <p:cNvSpPr txBox="1"/>
          <p:nvPr/>
        </p:nvSpPr>
        <p:spPr>
          <a:xfrm>
            <a:off x="685800" y="6163056"/>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07</a:t>
            </a:r>
          </a:p>
        </p:txBody>
      </p:sp>
      <p:sp>
        <p:nvSpPr>
          <p:cNvPr id="21" name="TextBox 20"/>
          <p:cNvSpPr txBox="1"/>
          <p:nvPr/>
        </p:nvSpPr>
        <p:spPr>
          <a:xfrm>
            <a:off x="1371600" y="6163056"/>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9"/>
              </a:rPr>
              <a:t>Optimization implementation reference</a:t>
            </a:r>
          </a:p>
        </p:txBody>
      </p:sp>
      <p:sp>
        <p:nvSpPr>
          <p:cNvPr id="22" name="TextBox 21"/>
          <p:cNvSpPr txBox="1"/>
          <p:nvPr/>
        </p:nvSpPr>
        <p:spPr>
          <a:xfrm>
            <a:off x="685800" y="7159752"/>
            <a:ext cx="13075920" cy="411480"/>
          </a:xfrm>
          <a:prstGeom prst="rect">
            <a:avLst/>
          </a:prstGeom>
          <a:noFill/>
        </p:spPr>
        <p:txBody>
          <a:bodyPr wrap="square" lIns="0" rIns="0" tIns="0" bIns="0">
            <a:spAutoFit/>
          </a:bodyPr>
          <a:lstStyle/>
          <a:p>
            <a:pPr algn="l">
              <a:lnSpc>
                <a:spcPct val="112000"/>
              </a:lnSpc>
              <a:spcAft>
                <a:spcPts val="600"/>
              </a:spcAft>
              <a:defRPr sz="1200" b="0">
                <a:solidFill>
                  <a:srgbClr val="596B72"/>
                </a:solidFill>
                <a:latin typeface="Liberation Sans"/>
              </a:defRPr>
            </a:pPr>
            <a:r>
              <a:t>All source URLs remain clickable. Team-mark credits: assets/sources.json. No league endorsement is implied.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J / SUBMISSION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What to hand in.</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CREASEIQ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v3.1.0    44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4511910"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Submit</a:t>
            </a:r>
          </a:p>
        </p:txBody>
      </p:sp>
      <p:sp>
        <p:nvSpPr>
          <p:cNvPr id="10" name="TextBox 9"/>
          <p:cNvSpPr txBox="1"/>
          <p:nvPr/>
        </p:nvSpPr>
        <p:spPr>
          <a:xfrm>
            <a:off x="5554326" y="2551176"/>
            <a:ext cx="8326265"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Purpose</a:t>
            </a:r>
          </a:p>
        </p:txBody>
      </p:sp>
      <p:sp>
        <p:nvSpPr>
          <p:cNvPr id="11" name="Rectangle 10"/>
          <p:cNvSpPr/>
          <p:nvPr/>
        </p:nvSpPr>
        <p:spPr>
          <a:xfrm>
            <a:off x="640080" y="2953512"/>
            <a:ext cx="133502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Presentation PPTX + PDF</a:t>
            </a:r>
          </a:p>
        </p:txBody>
      </p:sp>
      <p:sp>
        <p:nvSpPr>
          <p:cNvPr id="13" name="TextBox 12"/>
          <p:cNvSpPr txBox="1"/>
          <p:nvPr/>
        </p:nvSpPr>
        <p:spPr>
          <a:xfrm>
            <a:off x="5554326" y="3081528"/>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Editable viva deck and portable viewing copy</a:t>
            </a:r>
          </a:p>
        </p:txBody>
      </p:sp>
      <p:sp>
        <p:nvSpPr>
          <p:cNvPr id="14" name="Rectangle 13"/>
          <p:cNvSpPr/>
          <p:nvPr/>
        </p:nvSpPr>
        <p:spPr>
          <a:xfrm>
            <a:off x="640080" y="35478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547872"/>
            <a:ext cx="13350240" cy="59436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675887"/>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Project report DOCX + PDF</a:t>
            </a:r>
          </a:p>
        </p:txBody>
      </p:sp>
      <p:sp>
        <p:nvSpPr>
          <p:cNvPr id="17" name="TextBox 16"/>
          <p:cNvSpPr txBox="1"/>
          <p:nvPr/>
        </p:nvSpPr>
        <p:spPr>
          <a:xfrm>
            <a:off x="5554326" y="3675887"/>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Academic explanation, methods, results and references</a:t>
            </a:r>
          </a:p>
        </p:txBody>
      </p:sp>
      <p:sp>
        <p:nvSpPr>
          <p:cNvPr id="18" name="Rectangle 17"/>
          <p:cNvSpPr/>
          <p:nvPr/>
        </p:nvSpPr>
        <p:spPr>
          <a:xfrm>
            <a:off x="640080" y="414223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142232"/>
            <a:ext cx="133502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270248"/>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Frozen source ZIP</a:t>
            </a:r>
          </a:p>
        </p:txBody>
      </p:sp>
      <p:sp>
        <p:nvSpPr>
          <p:cNvPr id="21" name="TextBox 20"/>
          <p:cNvSpPr txBox="1"/>
          <p:nvPr/>
        </p:nvSpPr>
        <p:spPr>
          <a:xfrm>
            <a:off x="5554326" y="4270248"/>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Runnable code, processed data, tests and guides</a:t>
            </a:r>
          </a:p>
        </p:txBody>
      </p:sp>
      <p:sp>
        <p:nvSpPr>
          <p:cNvPr id="22" name="Rectangle 21"/>
          <p:cNvSpPr/>
          <p:nvPr/>
        </p:nvSpPr>
        <p:spPr>
          <a:xfrm>
            <a:off x="640080" y="47365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4736592"/>
            <a:ext cx="13350240" cy="59436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4864607"/>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User guide + evidence ZIP</a:t>
            </a:r>
          </a:p>
        </p:txBody>
      </p:sp>
      <p:sp>
        <p:nvSpPr>
          <p:cNvPr id="25" name="TextBox 24"/>
          <p:cNvSpPr txBox="1"/>
          <p:nvPr/>
        </p:nvSpPr>
        <p:spPr>
          <a:xfrm>
            <a:off x="5554326" y="4864607"/>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Reproduction instructions and completed validation</a:t>
            </a:r>
          </a:p>
        </p:txBody>
      </p:sp>
      <p:sp>
        <p:nvSpPr>
          <p:cNvPr id="26" name="Rectangle 25"/>
          <p:cNvSpPr/>
          <p:nvPr/>
        </p:nvSpPr>
        <p:spPr>
          <a:xfrm>
            <a:off x="640080" y="533095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5330952"/>
            <a:ext cx="133502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458968"/>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Abstract + demo/viva guide</a:t>
            </a:r>
          </a:p>
        </p:txBody>
      </p:sp>
      <p:sp>
        <p:nvSpPr>
          <p:cNvPr id="29" name="TextBox 28"/>
          <p:cNvSpPr txBox="1"/>
          <p:nvPr/>
        </p:nvSpPr>
        <p:spPr>
          <a:xfrm>
            <a:off x="5554326" y="5458968"/>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Short overview, live demonstration and examiner answers</a:t>
            </a:r>
          </a:p>
        </p:txBody>
      </p:sp>
      <p:sp>
        <p:nvSpPr>
          <p:cNvPr id="30" name="Rectangle 29"/>
          <p:cNvSpPr/>
          <p:nvPr/>
        </p:nvSpPr>
        <p:spPr>
          <a:xfrm>
            <a:off x="640080" y="59253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40080" y="5925312"/>
            <a:ext cx="13350240" cy="59436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86384" y="6053328"/>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START_HERE + links/checklist</a:t>
            </a:r>
          </a:p>
        </p:txBody>
      </p:sp>
      <p:sp>
        <p:nvSpPr>
          <p:cNvPr id="33" name="TextBox 32"/>
          <p:cNvSpPr txBox="1"/>
          <p:nvPr/>
        </p:nvSpPr>
        <p:spPr>
          <a:xfrm>
            <a:off x="5554326" y="6053328"/>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File map, setup, integrity hashes and institution additions</a:t>
            </a:r>
          </a:p>
        </p:txBody>
      </p:sp>
      <p:sp>
        <p:nvSpPr>
          <p:cNvPr id="34" name="Rectangle 33"/>
          <p:cNvSpPr/>
          <p:nvPr/>
        </p:nvSpPr>
        <p:spPr>
          <a:xfrm>
            <a:off x="640080" y="65196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CreaseIQ Editorial">
  <a:themeElements>
    <a:clrScheme name="CreaseIQ Editorial">
      <a:dk1>
        <a:srgbClr val="182D32"/>
      </a:dk1>
      <a:lt1>
        <a:srgbClr val="F6F5F0"/>
      </a:lt1>
      <a:dk2>
        <a:srgbClr val="101820"/>
      </a:dk2>
      <a:lt2>
        <a:srgbClr val="FFFFFF"/>
      </a:lt2>
      <a:accent1>
        <a:srgbClr val="176B55"/>
      </a:accent1>
      <a:accent2>
        <a:srgbClr val="AB2436"/>
      </a:accent2>
      <a:accent3>
        <a:srgbClr val="B78632"/>
      </a:accent3>
      <a:accent4>
        <a:srgbClr val="6B5793"/>
      </a:accent4>
      <a:accent5>
        <a:srgbClr val="596B72"/>
      </a:accent5>
      <a:accent6>
        <a:srgbClr val="2C7290"/>
      </a:accent6>
      <a:hlink>
        <a:srgbClr val="176B55"/>
      </a:hlink>
      <a:folHlink>
        <a:srgbClr val="176B55"/>
      </a:folHlink>
    </a:clrScheme>
    <a:fontScheme name="Office">
      <a:majorFont>
        <a:latin typeface="Liberation Serif"/>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iberation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reaseIQ Editorial">
  <a:themeElements>
    <a:clrScheme name="CreaseIQ Editorial">
      <a:dk1>
        <a:srgbClr val="182D32"/>
      </a:dk1>
      <a:lt1>
        <a:srgbClr val="F6F5F0"/>
      </a:lt1>
      <a:dk2>
        <a:srgbClr val="101820"/>
      </a:dk2>
      <a:lt2>
        <a:srgbClr val="FFFFFF"/>
      </a:lt2>
      <a:accent1>
        <a:srgbClr val="176B55"/>
      </a:accent1>
      <a:accent2>
        <a:srgbClr val="AB2436"/>
      </a:accent2>
      <a:accent3>
        <a:srgbClr val="B78632"/>
      </a:accent3>
      <a:accent4>
        <a:srgbClr val="6B5793"/>
      </a:accent4>
      <a:accent5>
        <a:srgbClr val="596B72"/>
      </a:accent5>
      <a:accent6>
        <a:srgbClr val="2C7290"/>
      </a:accent6>
      <a:hlink>
        <a:srgbClr val="176B55"/>
      </a:hlink>
      <a:folHlink>
        <a:srgbClr val="176B55"/>
      </a:folHlink>
    </a:clrScheme>
    <a:fontScheme name="Office">
      <a:majorFont>
        <a:latin typeface="Liberation Serif"/>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iberation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CreaseIQ — Franchise Research Studio | Capstone Presentation</dc:title>
  <dc:subject>AI Driven Data Science — application 3.1.0</dc:subject>
  <dc:creator>B.R. Abishek</dc:creator>
  <cp:keywords>cricket, evidence, scouting, constrained AI, mixed-integer optimization, capstone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